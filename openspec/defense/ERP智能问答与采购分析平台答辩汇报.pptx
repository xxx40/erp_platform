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1df6e424cf14662" /><Relationship Type="http://schemas.openxmlformats.org/officeDocument/2006/relationships/extended-properties" Target="/docProps/app.xml" Id="Rdee1cf53f14144d6" /><Relationship Type="http://schemas.openxmlformats.org/officeDocument/2006/relationships/officeDocument" Target="/ppt/presentation.xml" Id="R262813ad38fa4d1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f0bd78c6ef247fa"/>
  </p:sldMasterIdLst>
  <p:notesMasterIdLst>
    <p:notesMasterId xmlns:r="http://schemas.openxmlformats.org/officeDocument/2006/relationships" r:id="R3a9437a2315940fa"/>
  </p:notesMasterIdLst>
  <p:sldIdLst>
    <p:sldId xmlns:r="http://schemas.openxmlformats.org/officeDocument/2006/relationships" id="256" r:id="R6eacdc65464f45ae"/>
    <p:sldId xmlns:r="http://schemas.openxmlformats.org/officeDocument/2006/relationships" id="257" r:id="Re5ef19aa5c60477d"/>
    <p:sldId xmlns:r="http://schemas.openxmlformats.org/officeDocument/2006/relationships" id="258" r:id="Re4d1858e2bc94220"/>
    <p:sldId xmlns:r="http://schemas.openxmlformats.org/officeDocument/2006/relationships" id="259" r:id="Rfe70846de45549a1"/>
    <p:sldId xmlns:r="http://schemas.openxmlformats.org/officeDocument/2006/relationships" id="260" r:id="R2400f80516a64c14"/>
    <p:sldId xmlns:r="http://schemas.openxmlformats.org/officeDocument/2006/relationships" id="261" r:id="R71c5193cfe114ad5"/>
    <p:sldId xmlns:r="http://schemas.openxmlformats.org/officeDocument/2006/relationships" id="262" r:id="R8eb3e6e1c75844a0"/>
    <p:sldId xmlns:r="http://schemas.openxmlformats.org/officeDocument/2006/relationships" id="263" r:id="Rc0dcf29e846b4fe8"/>
    <p:sldId xmlns:r="http://schemas.openxmlformats.org/officeDocument/2006/relationships" id="264" r:id="Rdbedf637e3684f5a"/>
    <p:sldId xmlns:r="http://schemas.openxmlformats.org/officeDocument/2006/relationships" id="265" r:id="R7f5125ca3fed491c"/>
    <p:sldId xmlns:r="http://schemas.openxmlformats.org/officeDocument/2006/relationships" id="266" r:id="R5eb011b191ba42d3"/>
    <p:sldId xmlns:r="http://schemas.openxmlformats.org/officeDocument/2006/relationships" id="267" r:id="Rf164970ecbc04b0b"/>
    <p:sldId xmlns:r="http://schemas.openxmlformats.org/officeDocument/2006/relationships" id="268" r:id="R6be19dfe648e49f9"/>
    <p:sldId xmlns:r="http://schemas.openxmlformats.org/officeDocument/2006/relationships" id="269" r:id="R7f862d0c2be14049"/>
    <p:sldId xmlns:r="http://schemas.openxmlformats.org/officeDocument/2006/relationships" id="270" r:id="Rbee6624b74074aab"/>
    <p:sldId xmlns:r="http://schemas.openxmlformats.org/officeDocument/2006/relationships" id="271" r:id="Rf7351e0726ec426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c4fb96d456c4705" /><Relationship Type="http://schemas.openxmlformats.org/officeDocument/2006/relationships/slideMaster" Target="/ppt/slideMasters/slideMaster1.xml" Id="R7f0bd78c6ef247fa" /><Relationship Type="http://schemas.openxmlformats.org/officeDocument/2006/relationships/notesMaster" Target="/ppt/notesMasters/notesMaster1.xml" Id="R3a9437a2315940fa" /><Relationship Type="http://schemas.openxmlformats.org/officeDocument/2006/relationships/presProps" Target="/ppt/presProps.xml" Id="Rfc3e614094be4d53" /><Relationship Type="http://schemas.openxmlformats.org/officeDocument/2006/relationships/tableStyles" Target="/ppt/tableStyles.xml" Id="R2bcc071fd96147d5" /><Relationship Type="http://schemas.openxmlformats.org/officeDocument/2006/relationships/slide" Target="/ppt/slides/slide1.xml" Id="R6eacdc65464f45ae" /><Relationship Type="http://schemas.openxmlformats.org/officeDocument/2006/relationships/slide" Target="/ppt/slides/slide2.xml" Id="Re5ef19aa5c60477d" /><Relationship Type="http://schemas.openxmlformats.org/officeDocument/2006/relationships/slide" Target="/ppt/slides/slide3.xml" Id="Re4d1858e2bc94220" /><Relationship Type="http://schemas.openxmlformats.org/officeDocument/2006/relationships/slide" Target="/ppt/slides/slide4.xml" Id="Rfe70846de45549a1" /><Relationship Type="http://schemas.openxmlformats.org/officeDocument/2006/relationships/slide" Target="/ppt/slides/slide5.xml" Id="R2400f80516a64c14" /><Relationship Type="http://schemas.openxmlformats.org/officeDocument/2006/relationships/slide" Target="/ppt/slides/slide6.xml" Id="R71c5193cfe114ad5" /><Relationship Type="http://schemas.openxmlformats.org/officeDocument/2006/relationships/slide" Target="/ppt/slides/slide7.xml" Id="R8eb3e6e1c75844a0" /><Relationship Type="http://schemas.openxmlformats.org/officeDocument/2006/relationships/slide" Target="/ppt/slides/slide8.xml" Id="Rc0dcf29e846b4fe8" /><Relationship Type="http://schemas.openxmlformats.org/officeDocument/2006/relationships/slide" Target="/ppt/slides/slide9.xml" Id="Rdbedf637e3684f5a" /><Relationship Type="http://schemas.openxmlformats.org/officeDocument/2006/relationships/slide" Target="/ppt/slides/slide10.xml" Id="R7f5125ca3fed491c" /><Relationship Type="http://schemas.openxmlformats.org/officeDocument/2006/relationships/slide" Target="/ppt/slides/slide11.xml" Id="R5eb011b191ba42d3" /><Relationship Type="http://schemas.openxmlformats.org/officeDocument/2006/relationships/slide" Target="/ppt/slides/slide12.xml" Id="Rf164970ecbc04b0b" /><Relationship Type="http://schemas.openxmlformats.org/officeDocument/2006/relationships/slide" Target="/ppt/slides/slide13.xml" Id="R6be19dfe648e49f9" /><Relationship Type="http://schemas.openxmlformats.org/officeDocument/2006/relationships/slide" Target="/ppt/slides/slide14.xml" Id="R7f862d0c2be14049" /><Relationship Type="http://schemas.openxmlformats.org/officeDocument/2006/relationships/slide" Target="/ppt/slides/slide15.xml" Id="Rbee6624b74074aab" /><Relationship Type="http://schemas.openxmlformats.org/officeDocument/2006/relationships/slide" Target="/ppt/slides/slide16.xml" Id="Rf7351e0726ec426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d205ad9545f4c6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431bea8ca8a49e3" /><Relationship Type="http://schemas.openxmlformats.org/officeDocument/2006/relationships/notesMaster" Target="/ppt/notesMasters/notesMaster1.xml" Id="Rbcbc19b5a1354ab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4103f51992540ba" /><Relationship Type="http://schemas.openxmlformats.org/officeDocument/2006/relationships/notesMaster" Target="/ppt/notesMasters/notesMaster1.xml" Id="R1c3688732bd341d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b9302966c3d43c1" /><Relationship Type="http://schemas.openxmlformats.org/officeDocument/2006/relationships/notesMaster" Target="/ppt/notesMasters/notesMaster1.xml" Id="Ra06296da71cc426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fdc9d2a128941a0" /><Relationship Type="http://schemas.openxmlformats.org/officeDocument/2006/relationships/notesMaster" Target="/ppt/notesMasters/notesMaster1.xml" Id="R9c76f3b69838452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668981f16a04e40" /><Relationship Type="http://schemas.openxmlformats.org/officeDocument/2006/relationships/notesMaster" Target="/ppt/notesMasters/notesMaster1.xml" Id="Rd3d16859064c4e5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de11fd7fd2e431f" /><Relationship Type="http://schemas.openxmlformats.org/officeDocument/2006/relationships/notesMaster" Target="/ppt/notesMasters/notesMaster1.xml" Id="Rab7055b3a6f84e0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e764c51587f4419" /><Relationship Type="http://schemas.openxmlformats.org/officeDocument/2006/relationships/notesMaster" Target="/ppt/notesMasters/notesMaster1.xml" Id="R70cb9412f8b9474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bf4476adeb54329" /><Relationship Type="http://schemas.openxmlformats.org/officeDocument/2006/relationships/notesMaster" Target="/ppt/notesMasters/notesMaster1.xml" Id="R52403b28fa744eb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491c2f22af34c81" /><Relationship Type="http://schemas.openxmlformats.org/officeDocument/2006/relationships/notesMaster" Target="/ppt/notesMasters/notesMaster1.xml" Id="R154344df3189470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0565725cdcd4100" /><Relationship Type="http://schemas.openxmlformats.org/officeDocument/2006/relationships/notesMaster" Target="/ppt/notesMasters/notesMaster1.xml" Id="R59c56487a4f347f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ea3c87568d045ac" /><Relationship Type="http://schemas.openxmlformats.org/officeDocument/2006/relationships/notesMaster" Target="/ppt/notesMasters/notesMaster1.xml" Id="R055050e827504fc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370bac65ddf4e57" /><Relationship Type="http://schemas.openxmlformats.org/officeDocument/2006/relationships/notesMaster" Target="/ppt/notesMasters/notesMaster1.xml" Id="R459e52f1575543f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371d6bcea2e4e28" /><Relationship Type="http://schemas.openxmlformats.org/officeDocument/2006/relationships/notesMaster" Target="/ppt/notesMasters/notesMaster1.xml" Id="R5b0a370e55ed4e5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1795cd74e474533" /><Relationship Type="http://schemas.openxmlformats.org/officeDocument/2006/relationships/notesMaster" Target="/ppt/notesMasters/notesMaster1.xml" Id="R90e466702249481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103c71bbf67435a" /><Relationship Type="http://schemas.openxmlformats.org/officeDocument/2006/relationships/notesMaster" Target="/ppt/notesMasters/notesMaster1.xml" Id="Rb0521d1ce843470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e7a649e73554af2" /><Relationship Type="http://schemas.openxmlformats.org/officeDocument/2006/relationships/notesMaster" Target="/ppt/notesMasters/notesMaster1.xml" Id="R453ade9dee71405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ERP_Platform local project scope and defense requirements, reviewed 2026-08-04.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requirements and verified defect scenarios in ERP_Platform.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backend/, frontend/, purchase_order_service/, infrastructure/ and .harness/ local code.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backend/app/agents/routing.py; backend/app/agents/orchestrator.py; local routing tests.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backend/app/agents/orchestrator.py; backend/app/harness/ runtime controls.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backend/app/tools/; backend/app/adapters/; local Tool contract tests.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.harness/config.yml; .harness/rules/; .harness/skills/; .harness/agents/.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backend/app/adapters/purchase_order.py; purchase_order_service/; Connector contract tests.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backend knowledge adapters and retrieval orchestration for WISE and IMA.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User-provided/local ERP_Platform frontend analytics screenshot: tmp/defense-deck/assets/ui-analytics.png.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frontend/src/App.vue; backend session and interaction APIs; local browser verification.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backend authorization, policy and identity-scope implementation; local permission tests.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backend SQLAlchemy models and Alembic migrations through 20260731_0012.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semantic-routing and end-to-end scenario verification.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results on 2026-08-04: backend 234 passed; purchase service 45 passed; frontend vue-tsc + Vite PASS; tmp/audit-defense-results-utf8.json.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Synthesized from the verified local architecture, safety controls and demonstration paths.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10b285114c4c5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0b6d97b716b4a0c" /><Relationship Type="http://schemas.openxmlformats.org/officeDocument/2006/relationships/slideLayout" Target="/ppt/slideLayouts/slideLayout1.xml" Id="R0d5fa90169eb4fd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d5fa90169eb4fd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ab2ba3672b4e1d" /><Relationship Type="http://schemas.openxmlformats.org/officeDocument/2006/relationships/notesSlide" Target="/ppt/notesSlides/notesSlide1.xml" Id="R5b1c389b0dea4e0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7fa92525044354" /><Relationship Type="http://schemas.openxmlformats.org/officeDocument/2006/relationships/notesSlide" Target="/ppt/notesSlides/notesSlide2.xml" Id="R27fc45ffc8ef4dc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d95e54cfb044a9" /><Relationship Type="http://schemas.openxmlformats.org/officeDocument/2006/relationships/notesSlide" Target="/ppt/notesSlides/notesSlide3.xml" Id="R6ca493a3e47b484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c875e8c8714ebb" /><Relationship Type="http://schemas.openxmlformats.org/officeDocument/2006/relationships/notesSlide" Target="/ppt/notesSlides/notesSlide4.xml" Id="R8434cbe0b07f4e4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915d292b6d4e91" /><Relationship Type="http://schemas.openxmlformats.org/officeDocument/2006/relationships/notesSlide" Target="/ppt/notesSlides/notesSlide5.xml" Id="R0fc1e8b745dd4f7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1c8c1270db47aa" /><Relationship Type="http://schemas.openxmlformats.org/officeDocument/2006/relationships/notesSlide" Target="/ppt/notesSlides/notesSlide6.xml" Id="R5366e68d08e8498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2805558a404906" /><Relationship Type="http://schemas.openxmlformats.org/officeDocument/2006/relationships/notesSlide" Target="/ppt/notesSlides/notesSlide7.xml" Id="Rceb620967525494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aa472e16b24c8d" /><Relationship Type="http://schemas.openxmlformats.org/officeDocument/2006/relationships/notesSlide" Target="/ppt/notesSlides/notesSlide8.xml" Id="Ra1b3599a2ef8480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bb2cf1bfd04030" /><Relationship Type="http://schemas.openxmlformats.org/officeDocument/2006/relationships/notesSlide" Target="/ppt/notesSlides/notesSlide9.xml" Id="Rb18180f2c734428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a834e3ed4544d7" /><Relationship Type="http://schemas.openxmlformats.org/officeDocument/2006/relationships/image" Target="/ppt/media/image.jpeg" Id="Rf55da781c9e64de8" /><Relationship Type="http://schemas.openxmlformats.org/officeDocument/2006/relationships/notesSlide" Target="/ppt/notesSlides/notesSlide10.xml" Id="Re1645fa8830d4f3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9361df122f48b3" /><Relationship Type="http://schemas.openxmlformats.org/officeDocument/2006/relationships/notesSlide" Target="/ppt/notesSlides/notesSlide11.xml" Id="R34cd78e1875d477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da7673912b43fd" /><Relationship Type="http://schemas.openxmlformats.org/officeDocument/2006/relationships/notesSlide" Target="/ppt/notesSlides/notesSlide12.xml" Id="R15b748bb5eae451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aeb0e21e7546b5" /><Relationship Type="http://schemas.openxmlformats.org/officeDocument/2006/relationships/notesSlide" Target="/ppt/notesSlides/notesSlide13.xml" Id="Rcdd617c390ee414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6aea394ce94004" /><Relationship Type="http://schemas.openxmlformats.org/officeDocument/2006/relationships/notesSlide" Target="/ppt/notesSlides/notesSlide14.xml" Id="Rede319c5d7ce488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365cc4dbe74620" /><Relationship Type="http://schemas.openxmlformats.org/officeDocument/2006/relationships/notesSlide" Target="/ppt/notesSlides/notesSlide15.xml" Id="R45520b6e3619436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754578b3c7455a" /><Relationship Type="http://schemas.openxmlformats.org/officeDocument/2006/relationships/notesSlide" Target="/ppt/notesSlides/notesSlide16.xml" Id="Rc7ce01da0e0348b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2D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DA3F09-81A1-4ECE-AB64-6838AAAC3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4"/>
          </a:solidFill>
          <a:ln xmlns:a="http://schemas.openxmlformats.org/drawingml/2006/main" w="9525">
            <a:solidFill>
              <a:srgbClr val="0F2D4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9C0302-D379-4CE3-B4A1-A8F6170AA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-1143000"/>
            <a:ext cx="4953000" cy="4953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F60"/>
          </a:solidFill>
          <a:ln xmlns:a="http://schemas.openxmlformats.org/drawingml/2006/main" w="9525">
            <a:solidFill>
              <a:srgbClr val="123F6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7B9380-132F-4F63-812C-7BE6001ED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143250"/>
            <a:ext cx="4095750" cy="409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506F"/>
          </a:solidFill>
          <a:ln xmlns:a="http://schemas.openxmlformats.org/drawingml/2006/main" w="9525">
            <a:solidFill>
              <a:srgbClr val="0D506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E8113C-FF33-4087-AE88-38A7DA33E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619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3F5C"/>
          </a:solidFill>
          <a:ln xmlns:a="http://schemas.openxmlformats.org/drawingml/2006/main" w="9525">
            <a:solidFill>
              <a:srgbClr val="2B638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F02C17-D99A-44E8-8FC5-C1D45D25F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8EDD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8EDDF0"/>
                </a:solidFill>
                <a:latin typeface="Microsoft YaHei"/>
                <a:ea typeface="Microsoft YaHei"/>
                <a:cs typeface="Microsoft YaHei"/>
              </a:rPr>
              <a:t>答辩汇报 ·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BEE581-CFD3-4ADF-AA8B-FAF4DE42C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95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ERP 智能问答与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采购分析平台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74FECE-FBD2-4C4D-8611-4C8A0FC98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A7D9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7D9ED"/>
                </a:solidFill>
                <a:latin typeface="Microsoft YaHei"/>
                <a:ea typeface="Microsoft YaHei"/>
                <a:cs typeface="Microsoft YaHei"/>
              </a:rPr>
              <a:t>语义理解 × 业务数据 × 企业知识 × Harness 治理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3B3C6E-91DB-4318-8191-A34793B79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43325"/>
            <a:ext cx="657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BED2D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BED2DF"/>
                </a:solidFill>
                <a:latin typeface="Microsoft YaHei"/>
                <a:ea typeface="Microsoft YaHei"/>
                <a:cs typeface="Microsoft YaHei"/>
              </a:rPr>
              <a:t>把大模型能力放进一条可控、可证据、可审计的企业业务链路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507B8C-C809-4210-B814-2B8EB69C4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335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7F8"/>
          </a:solidFill>
          <a:ln xmlns:a="http://schemas.openxmlformats.org/drawingml/2006/main" w="0">
            <a:solidFill>
              <a:srgbClr val="1687F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0FA993-B3E7-4D11-82AA-D54176C30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33550"/>
            <a:ext cx="876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D49FFD-FBE8-4E51-8E9E-3A3E46FC4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4320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语义路由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60B521-4FFF-456C-84D2-A7E93561D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152650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BCD7"/>
          </a:solidFill>
          <a:ln xmlns:a="http://schemas.openxmlformats.org/drawingml/2006/main" w="9525">
            <a:solidFill>
              <a:srgbClr val="78BCD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CD8A53-10BA-480B-913C-0E2970D7B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193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78BC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78BCD7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C09298-0BDA-432E-B728-B18F2A397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7335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4D8"/>
          </a:solidFill>
          <a:ln xmlns:a="http://schemas.openxmlformats.org/drawingml/2006/main" w="0">
            <a:solidFill>
              <a:srgbClr val="08B4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98F94E-32B6-4FC3-B0CF-902BBBF2E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733550"/>
            <a:ext cx="876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Tool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35C249-C0DC-4A4B-BA82-ADB80CF53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4320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业务与知识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2EB72D-D646-441B-8FD6-6323E5BA0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152650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BCD7"/>
          </a:solidFill>
          <a:ln xmlns:a="http://schemas.openxmlformats.org/drawingml/2006/main" w="9525">
            <a:solidFill>
              <a:srgbClr val="78BCD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D6C75E-0F29-45B0-A11F-9A81E213A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0193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78BC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78BCD7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396550-466F-4894-B843-4943C3D2E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7335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B673"/>
          </a:solidFill>
          <a:ln xmlns:a="http://schemas.openxmlformats.org/drawingml/2006/main" w="0">
            <a:solidFill>
              <a:srgbClr val="2BB67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970CB0-D3ED-48B4-B151-47D5B1D3C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733550"/>
            <a:ext cx="876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8B8750-48D7-429F-9581-0DA944B3D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74320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运行时治理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154F3D-09F4-427B-99D2-F086DC965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72050"/>
            <a:ext cx="590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37D"/>
          </a:solidFill>
          <a:ln xmlns:a="http://schemas.openxmlformats.org/drawingml/2006/main" w="9525">
            <a:solidFill>
              <a:srgbClr val="37637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1EF970-E141-43FB-AD6B-69003C533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816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88A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88A8BC"/>
                </a:solidFill>
                <a:latin typeface="Microsoft YaHei"/>
                <a:ea typeface="Microsoft YaHei"/>
                <a:cs typeface="Microsoft YaHei"/>
              </a:rPr>
              <a:t>FastAPI · LangGraph · SQLAlchemy · Vue 3 · ECharts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C9A24D-6945-46E0-B693-66ACB8DF5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A7BD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7BDCA"/>
                </a:solidFill>
                <a:latin typeface="Microsoft YaHei"/>
                <a:ea typeface="Microsoft YaHei"/>
                <a:cs typeface="Microsoft YaHei"/>
              </a:rPr>
              <a:t>答辩人：________________    指导教师：________________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585506-B73C-4714-9B7C-4B2DC0D07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88A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8A8BC"/>
                </a:solidFill>
                <a:latin typeface="Microsoft YaHei"/>
                <a:ea typeface="Microsoft YaHei"/>
                <a:cs typeface="Microsoft YaHei"/>
              </a:rPr>
              <a:t>ERP_Platform · 系统设计与工程实现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703184-EFA6-4625-8EDC-715B6E080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8652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88A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8A8BC"/>
                </a:solidFill>
                <a:latin typeface="Microsoft YaHei"/>
                <a:ea typeface="Microsoft YaHei"/>
                <a:cs typeface="Microsoft YaHei"/>
              </a:rPr>
              <a:t>01 / 16</a:t>
            </a:r>
          </a:p>
        </p:txBody>
      </p:sp>
    </p:spTree>
    <p:extLst>
      <p:ext uri="{BB962C8B-B14F-4D97-AF65-F5344CB8AC3E}">
        <p14:creationId xmlns:p14="http://schemas.microsoft.com/office/powerpoint/2010/main" val="12260076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BBF0143-41A6-4AFF-B2B2-878716B69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687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7F8"/>
                </a:solidFill>
                <a:latin typeface="Microsoft YaHei"/>
                <a:ea typeface="Microsoft YaHei"/>
                <a:cs typeface="Microsoft YaHei"/>
              </a:rPr>
              <a:t>01 · 业务痛点与设计目标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7AC327-8552-471E-8A08-373EA8FBB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rPr>
              <a:t>从“能聊天”到“能解决采购业务问题”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A4C368-9EAD-43AA-A5CC-6B10FF3B2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B0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AB0B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BE7148-FBCC-4E51-A6AC-4F631F128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E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9D683F-31BA-4C26-B293-A38DF4622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510540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D36EAE-61E7-4EDF-895D-83933E6EF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66675" cy="1543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7F8"/>
          </a:solidFill>
          <a:ln xmlns:a="http://schemas.openxmlformats.org/drawingml/2006/main" w="9525">
            <a:solidFill>
              <a:srgbClr val="1687F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03EB5F-D492-473E-B3A9-373CEE423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478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7F8"/>
          </a:solidFill>
          <a:ln xmlns:a="http://schemas.openxmlformats.org/drawingml/2006/main" w="0">
            <a:solidFill>
              <a:srgbClr val="1687F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3DD79A-9CA6-403B-A6E1-7790983EF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478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语义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B80125-99A9-4442-B54E-6267581A4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638300"/>
            <a:ext cx="421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rPr>
              <a:t>路由容易漂移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CA77C4-AD49-4C00-B687-59FCF64F1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28825"/>
            <a:ext cx="4686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rPr>
              <a:t>关键词硬匹配无法处理同义表达、否定和复合意图。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439E67-1215-4687-A2BC-8C856B5D8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76375"/>
            <a:ext cx="510540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A24C9E-A486-4CB3-896E-47AB69E23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76375"/>
            <a:ext cx="66675" cy="1543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A93B"/>
          </a:solidFill>
          <a:ln xmlns:a="http://schemas.openxmlformats.org/drawingml/2006/main" w="9525">
            <a:solidFill>
              <a:srgbClr val="F2A93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B2B61B-295A-4BF1-985E-D6DBAAC06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478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93B"/>
          </a:solidFill>
          <a:ln xmlns:a="http://schemas.openxmlformats.org/drawingml/2006/main" w="0">
            <a:solidFill>
              <a:srgbClr val="F2A93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240926-9B0E-4C23-902E-FBC14D66C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478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事实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4C4F28-1CEF-44BE-9B39-9915FC615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638300"/>
            <a:ext cx="421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rPr>
              <a:t>业务事实不可信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856634-43C3-48E0-9524-6C4A8E113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28825"/>
            <a:ext cx="4686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rPr>
              <a:t>订单状态、未入库清单和经营指标不能由模型猜测。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F0D77A-F0CF-4A65-94DC-821B97C53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510540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1E6D4E-2C70-4B9B-8246-375EF5CF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66675" cy="1543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B4D8"/>
          </a:solidFill>
          <a:ln xmlns:a="http://schemas.openxmlformats.org/drawingml/2006/main" w="9525">
            <a:solidFill>
              <a:srgbClr val="08B4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A1139A-472D-4501-9B12-349A4B3B2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575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4D8"/>
          </a:solidFill>
          <a:ln xmlns:a="http://schemas.openxmlformats.org/drawingml/2006/main" w="0">
            <a:solidFill>
              <a:srgbClr val="08B4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1A6813-BF3C-4971-A1DF-00C1666E8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575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证据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C96DA2-B424-4B05-8F3A-991212653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48050"/>
            <a:ext cx="421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rPr>
              <a:t>回答缺少依据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A7D9DF-EF8B-4112-90EB-E4FB4C865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38575"/>
            <a:ext cx="4686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rPr>
              <a:t>制度流程需要企业知识证据和可追溯来源。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82CD87-6772-415D-9AC3-DC7F688BB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86125"/>
            <a:ext cx="510540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71F1AD-07A7-470D-83B7-94C4049DF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86125"/>
            <a:ext cx="66675" cy="1543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B673"/>
          </a:solidFill>
          <a:ln xmlns:a="http://schemas.openxmlformats.org/drawingml/2006/main" w="9525">
            <a:solidFill>
              <a:srgbClr val="2BB67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815C0B-1480-468B-B888-A431FB3D8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575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B673"/>
          </a:solidFill>
          <a:ln xmlns:a="http://schemas.openxmlformats.org/drawingml/2006/main" w="0">
            <a:solidFill>
              <a:srgbClr val="2BB67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BF8AAD-813C-4429-9E57-67FD6F8A2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575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治理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77BCDE-5D35-408E-A082-9060A7767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448050"/>
            <a:ext cx="421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rPr>
              <a:t>Agent 缺乏边界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4DB7EA-71ED-4718-AEE6-E359AEE09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38575"/>
            <a:ext cx="4686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rPr>
              <a:t>企业场景必须限制写操作、权限、预算、超时与审计。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DA06B0-F9DE-4A3C-8000-C671E8A70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8204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3B57"/>
          </a:solidFill>
          <a:ln xmlns:a="http://schemas.openxmlformats.org/drawingml/2006/main" w="9525">
            <a:solidFill>
              <a:srgbClr val="173B5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5B65DC-78D9-4BEE-B173-50AB8D09D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29250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8EDD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EDDF0"/>
                </a:solidFill>
                <a:latin typeface="Microsoft YaHei"/>
                <a:ea typeface="Microsoft YaHei"/>
                <a:cs typeface="Microsoft YaHei"/>
              </a:rPr>
              <a:t>设计原则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A3ECE0-8056-4F92-9D9E-ABE6BE5C7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4292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整句语义理解  →  真实 Tool 查询  →  证据约束回答  →  Harness 全程治理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947D048-4B83-41C8-9001-6F2B89FBF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8CA2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CA2B1"/>
                </a:solidFill>
                <a:latin typeface="Microsoft YaHei"/>
                <a:ea typeface="Microsoft YaHei"/>
                <a:cs typeface="Microsoft YaHei"/>
              </a:rPr>
              <a:t>ERP 智能问答与采购分析平台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79A91E5-DFFC-4CD9-AB2B-1ECA1D227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8652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8CA2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CA2B1"/>
                </a:solidFill>
                <a:latin typeface="Microsoft YaHei"/>
                <a:ea typeface="Microsoft YaHei"/>
                <a:cs typeface="Microsoft YaHei"/>
              </a:rPr>
              <a:t>02 / 16</a:t>
            </a:r>
          </a:p>
        </p:txBody>
      </p:sp>
    </p:spTree>
    <p:extLst>
      <p:ext uri="{BB962C8B-B14F-4D97-AF65-F5344CB8AC3E}">
        <p14:creationId xmlns:p14="http://schemas.microsoft.com/office/powerpoint/2010/main" val="10161473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843C0C8-0AE6-443A-9C6E-E1EB9BD6B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687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7F8"/>
                </a:solidFill>
                <a:latin typeface="Microsoft YaHei"/>
                <a:ea typeface="Microsoft YaHei"/>
                <a:cs typeface="Microsoft YaHei"/>
              </a:rPr>
              <a:t>02 · 总体设计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040781-B223-4FF6-81D1-52F9DEFFE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rPr>
              <a:t>系统总体架构：六层协同、双数据通道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CFF4F6-37BC-4C18-B9BA-4AAB2DECE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B0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AB0B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FA6655-25C8-49CD-B93C-DE30C8E3C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E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63E566-85BA-402A-90AD-4E5C83C45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8204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73B57"/>
          </a:solidFill>
          <a:ln xmlns:a="http://schemas.openxmlformats.org/drawingml/2006/main" w="9525">
            <a:solidFill>
              <a:srgbClr val="173B5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39927D-CFBD-4CF8-A131-E9F0D9F8C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52575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交互层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DFC1AC-3ADA-4BBF-8895-F8441A4C1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571625"/>
            <a:ext cx="160401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34D69"/>
          </a:solidFill>
          <a:ln xmlns:a="http://schemas.openxmlformats.org/drawingml/2006/main" w="9525">
            <a:solidFill>
              <a:srgbClr val="3B688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7BFC2F-3568-4D94-A114-C1B5D548D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571625"/>
            <a:ext cx="150876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Vue 3 会话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0A1833-55D9-4010-A8EC-3F3E4F837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2935" y="1571625"/>
            <a:ext cx="160401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34D69"/>
          </a:solidFill>
          <a:ln xmlns:a="http://schemas.openxmlformats.org/drawingml/2006/main" w="9525">
            <a:solidFill>
              <a:srgbClr val="3B688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576077-1FBD-48AE-9B6F-7ABCF5E9F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571625"/>
            <a:ext cx="150876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订单表/卡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C14F6B-6A2C-4D14-9B6F-57A1D94EF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1245" y="1571625"/>
            <a:ext cx="160401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34D69"/>
          </a:solidFill>
          <a:ln xmlns:a="http://schemas.openxmlformats.org/drawingml/2006/main" w="9525">
            <a:solidFill>
              <a:srgbClr val="3B688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EE3436-3983-4FB8-B1C1-382FD65C1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8870" y="1571625"/>
            <a:ext cx="150876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指标卡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682F08-1137-4F5F-87A0-6060CD1D0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9555" y="1571625"/>
            <a:ext cx="160401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34D69"/>
          </a:solidFill>
          <a:ln xmlns:a="http://schemas.openxmlformats.org/drawingml/2006/main" w="9525">
            <a:solidFill>
              <a:srgbClr val="3B688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C8A35F-E162-42D8-A00B-388D6C040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7180" y="1571625"/>
            <a:ext cx="150876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ECharts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513E80-9E80-4115-A849-FB7BC5755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7865" y="1571625"/>
            <a:ext cx="160401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34D69"/>
          </a:solidFill>
          <a:ln xmlns:a="http://schemas.openxmlformats.org/drawingml/2006/main" w="9525">
            <a:solidFill>
              <a:srgbClr val="3B688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C0EDAE-9279-491B-88DC-2B6294E67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1571625"/>
            <a:ext cx="150876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折叠来源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5C8BF8-DFF5-42A4-A506-F7EFAC3BD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08204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B42543-92AF-4D9F-B9CF-486182C36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86000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rPr>
              <a:t>API / 身份层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CFD0A3-1414-4492-8BBC-4776172BF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305050"/>
            <a:ext cx="160401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23B477-509E-4149-9CD5-3BE044C91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305050"/>
            <a:ext cx="150876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rPr>
              <a:t>FastAPI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1FA888-80B8-4968-B5A6-FD2522DE9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2935" y="2305050"/>
            <a:ext cx="160401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3BF556-21A9-4094-A18C-B54622C5C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305050"/>
            <a:ext cx="150876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rPr>
              <a:t>User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EAC8DC-6399-42FE-B4CD-44E481548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1245" y="2305050"/>
            <a:ext cx="160401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403853-2470-4EA4-A737-F86A0D157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8870" y="2305050"/>
            <a:ext cx="150876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rPr>
              <a:t>Tenant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F7D973-E1D8-4B94-8703-69DA1767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9555" y="2305050"/>
            <a:ext cx="160401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8EC32B-73E7-42C8-AC34-724C74779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7180" y="2305050"/>
            <a:ext cx="150876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rPr>
              <a:t>Org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BF6F8D-3F8B-4D4B-8379-CD79D42DF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7865" y="2305050"/>
            <a:ext cx="160401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4A3D05-C7F9-43DA-A730-DBF955B51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2305050"/>
            <a:ext cx="150876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rPr>
              <a:t>Roles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7CFF19-A3E3-457E-A456-976D64D1A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3225"/>
            <a:ext cx="108204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7F1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A307439-99F5-4C80-8920-8D0E5EA9C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19425"/>
            <a:ext cx="161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rPr>
              <a:t>Agent 编排层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AD393A-7426-4303-BD8E-11AE6FD57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038475"/>
            <a:ext cx="27495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BF1A1B-78B9-40B3-B5D3-FBF3A478F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038475"/>
            <a:ext cx="2654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rPr>
              <a:t>SemanticRoutePlan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84816D7-C2A8-4221-AA9D-99E3CD6A5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8475" y="3038475"/>
            <a:ext cx="27495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B709BC6-3A87-4B26-B648-F087BF7A3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6100" y="3038475"/>
            <a:ext cx="2654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rPr>
              <a:t>LangGraph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A57262A-4DFD-4303-9EA0-8489F9D6D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2325" y="3038475"/>
            <a:ext cx="27495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13B13CF-EFE5-4509-B6D5-EBEEB23FE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9950" y="3038475"/>
            <a:ext cx="2654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rPr>
              <a:t>Answer Verify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5C0EFA6-B3BA-4C73-A1B4-92FF0EF54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08204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AF8F1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496F560-3131-40BF-A129-B68994691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86200"/>
            <a:ext cx="161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rPr>
              <a:t>Harness 治理层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937A8E3-EAB6-4236-8085-D05400CB0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905250"/>
            <a:ext cx="160401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D0F55D3-95F1-4F1D-A68F-B26E4594B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905250"/>
            <a:ext cx="15087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rPr>
              <a:t>Policy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A148912-320D-4A48-9D4E-CDDCF8615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2935" y="3905250"/>
            <a:ext cx="160401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D93C1D8-3654-4B19-962D-AFE6A6B88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3905250"/>
            <a:ext cx="15087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rPr>
              <a:t>Tool Contract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B919BB1-5205-420B-8688-588CE5F57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1245" y="3905250"/>
            <a:ext cx="160401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C6711DF-65F2-4BC8-A222-D9A885234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8870" y="3905250"/>
            <a:ext cx="15087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rPr>
              <a:t>Budget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7AA7212-0A41-41CE-B61A-43065A930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9555" y="3905250"/>
            <a:ext cx="160401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7BFD69A-0313-4A58-8EFB-44500449D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7180" y="3905250"/>
            <a:ext cx="15087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rPr>
              <a:t>Timeout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0B91203-A8DF-459D-A424-ABDE3C41D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7865" y="3905250"/>
            <a:ext cx="160401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7CA6D69-DCB0-4A2B-8609-21F77B107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3905250"/>
            <a:ext cx="15087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rPr>
              <a:t>Audit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94F03E7-2638-47BF-955A-49013FEB7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76775"/>
            <a:ext cx="108204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8F9FC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4E0B4D8-E7A1-46A6-9620-4911452C9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52975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rPr>
              <a:t>Tool / 服务层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B090D44-4660-4E84-91D0-D91594F97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772025"/>
            <a:ext cx="2033588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46E1CB1-EAD7-43EA-9F11-AB418FBAA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772025"/>
            <a:ext cx="193833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rPr>
              <a:t>订单查询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3A29266-85F7-4EC4-B1CD-8FBDB3D40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2513" y="4772025"/>
            <a:ext cx="2033588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4BB792B-614B-484F-B985-E10A8511D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138" y="4772025"/>
            <a:ext cx="193833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rPr>
              <a:t>订单列表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FC65832-10BD-4887-BD7B-047439E07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772025"/>
            <a:ext cx="2033588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4D49890-CA5C-4B6A-A6B2-4706CA643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772025"/>
            <a:ext cx="193833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rPr>
              <a:t>经营分析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B94F95A-DB58-43FF-B17B-72F283B48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8288" y="4772025"/>
            <a:ext cx="2033588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4D07510-7F1D-40E3-82E7-3684D0F04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913" y="4772025"/>
            <a:ext cx="193833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rPr>
              <a:t>知识检索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4357DC7-6708-4E52-A13C-BA5197E99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108204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5E5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2E370D9-E96A-4E7D-B5D4-5FB47E2C5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86400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rPr>
              <a:t>数据与知识层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083DD64-A395-4C6E-A72B-3CCB9E6A3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505450"/>
            <a:ext cx="160401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6A55DEF-69B8-4BB2-A5A9-FB1D2BD84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505450"/>
            <a:ext cx="150876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rPr>
              <a:t>ERP / DB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6CAA97C-070B-46F4-BACB-DCF20C9E4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2935" y="5505450"/>
            <a:ext cx="160401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8995848-2FE6-40A8-A710-705236695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5505450"/>
            <a:ext cx="150876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rPr>
              <a:t>采购服务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554E109-BEBF-495C-BA1C-3F2DE3691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1245" y="5505450"/>
            <a:ext cx="160401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66F380E-12FE-487F-8CE3-52B82F347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8870" y="5505450"/>
            <a:ext cx="150876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rPr>
              <a:t>WISE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ACC5CF8-85B0-4431-B6D2-E556F944A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9555" y="5505450"/>
            <a:ext cx="160401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C0D06D6-DEF7-49D4-B78F-26A34B88C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7180" y="5505450"/>
            <a:ext cx="150876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rPr>
              <a:t>IMA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AE8BDA9-BCA2-4C80-9947-9E06685A8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7865" y="5505450"/>
            <a:ext cx="160401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698AB0B-A373-419E-A6DE-37081AA55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5505450"/>
            <a:ext cx="150876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rPr>
              <a:t>平台数据库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98DFA45-B545-496F-9683-E68199084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8CA2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CA2B1"/>
                </a:solidFill>
                <a:latin typeface="Microsoft YaHei"/>
                <a:ea typeface="Microsoft YaHei"/>
                <a:cs typeface="Microsoft YaHei"/>
              </a:rPr>
              <a:t>ERP 智能问答与采购分析平台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7FAD363-2947-41A9-9438-6914327EB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8652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8CA2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CA2B1"/>
                </a:solidFill>
                <a:latin typeface="Microsoft YaHei"/>
                <a:ea typeface="Microsoft YaHei"/>
                <a:cs typeface="Microsoft YaHei"/>
              </a:rPr>
              <a:t>03 / 16</a:t>
            </a:r>
          </a:p>
        </p:txBody>
      </p:sp>
    </p:spTree>
    <p:extLst>
      <p:ext uri="{BB962C8B-B14F-4D97-AF65-F5344CB8AC3E}">
        <p14:creationId xmlns:p14="http://schemas.microsoft.com/office/powerpoint/2010/main" val="1193392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8668135-9EFA-4ADF-99E8-4BCE8C2E9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687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7F8"/>
                </a:solidFill>
                <a:latin typeface="Microsoft YaHei"/>
                <a:ea typeface="Microsoft YaHei"/>
                <a:cs typeface="Microsoft YaHei"/>
              </a:rPr>
              <a:t>03 · Agent 智能入口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A1B0E4-1018-403C-848C-D7E878A7D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rPr>
              <a:t>整句语义路由：模型理解，规则校验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24E863-C370-487D-AA8D-8C0339019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B0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AB0B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E975F1-A388-4CCE-B9D7-BD798D63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E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ECA766-7CCB-406D-A48B-293BAEE88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2952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73B57"/>
          </a:solidFill>
          <a:ln xmlns:a="http://schemas.openxmlformats.org/drawingml/2006/main" w="9525">
            <a:solidFill>
              <a:srgbClr val="173B5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4B292E-18C7-49A7-B1C9-C4C640DB2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完整用户问题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EC9C42-B0B1-483D-BC1D-7B21EA4FE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38350"/>
            <a:ext cx="2495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D4E9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4E9F3"/>
                </a:solidFill>
                <a:latin typeface="Microsoft YaHei"/>
                <a:ea typeface="Microsoft YaHei"/>
                <a:cs typeface="Microsoft YaHei"/>
              </a:rPr>
              <a:t>“结合未入库订单和采购制度，分析履约风险并给建议”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477F7B-6F54-4159-B773-E597A8388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257425"/>
            <a:ext cx="933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F8"/>
          </a:solidFill>
          <a:ln xmlns:a="http://schemas.openxmlformats.org/drawingml/2006/main" w="9525">
            <a:solidFill>
              <a:srgbClr val="1687F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2AFE6A-6B65-4EC9-AE53-366601B00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1240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1687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87F8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E970C1-430D-4593-A28B-668847F2D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00977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rPr>
              <a:t>完整语义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9782C9-A4FE-4EB3-A964-DAE30197C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466850"/>
            <a:ext cx="2857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87F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6A1238-EE0D-47B5-8E8F-4E59F29DE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619250"/>
            <a:ext cx="2190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BFD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816CDD-4835-450D-86D6-5BC260053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161925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1687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687F8"/>
                </a:solidFill>
                <a:latin typeface="Microsoft YaHei"/>
                <a:ea typeface="Microsoft YaHei"/>
                <a:cs typeface="Microsoft YaHei"/>
              </a:rPr>
              <a:t>SemanticRoutePlan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D7AFE2-6253-4AEE-8DE8-2A1D049D2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2047875"/>
            <a:ext cx="2343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rPr>
              <a:t>request_kind · operation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rPr>
              <a:t>identifiers · filters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rPr>
              <a:t>data_needs · evidence_need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rPr>
              <a:t>required_tools · missing_fields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2EC830-AC5B-4AC5-8D50-C0AFDFB9B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57425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F8"/>
          </a:solidFill>
          <a:ln xmlns:a="http://schemas.openxmlformats.org/drawingml/2006/main" w="9525">
            <a:solidFill>
              <a:srgbClr val="1687F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986C95-6F46-42F4-BDAC-E82FCA51E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240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1687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87F8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AA1812-8DB8-400A-BD33-4B03F873B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097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rPr>
              <a:t>契约校验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9D9C71-8B86-465A-9504-D3C1BFCE7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466850"/>
            <a:ext cx="27241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AF8F1"/>
          </a:solidFill>
          <a:ln xmlns:a="http://schemas.openxmlformats.org/drawingml/2006/main" w="9525">
            <a:solidFill>
              <a:srgbClr val="BCE6C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9FBC93-DA80-4E48-8FAA-5BF5556C8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6192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2BB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B673"/>
                </a:solidFill>
                <a:latin typeface="Microsoft YaHei"/>
                <a:ea typeface="Microsoft YaHei"/>
                <a:cs typeface="Microsoft YaHei"/>
              </a:rPr>
              <a:t>routing.py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DA8CA8-93F1-4617-A52B-A7FBC10A4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019300"/>
            <a:ext cx="2266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rPr>
              <a:t>规范化结构字段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rPr>
              <a:t>检查必填参数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rPr>
              <a:t>验证 Tool Contract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rPr>
              <a:t>安全收口与澄清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4CC47B-AC5B-4444-9731-2D5ECAE27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1981200" cy="17716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859A44-699D-4CA1-8006-E7E25971B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1981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7F8"/>
          </a:solidFill>
          <a:ln xmlns:a="http://schemas.openxmlformats.org/drawingml/2006/main" w="9525">
            <a:solidFill>
              <a:srgbClr val="1687F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C17F1E-AFF4-4FAC-B227-65B7E52D2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57625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rPr>
              <a:t>通用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DBFAA2-1711-426C-9165-8B5CE400D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48150"/>
            <a:ext cx="1562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7F8">
              <a:alpha val="12549"/>
            </a:srgbClr>
          </a:solidFill>
          <a:ln xmlns:a="http://schemas.openxmlformats.org/drawingml/2006/main" w="9525">
            <a:solidFill>
              <a:srgbClr val="1687F8">
                <a:alpha val="37647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338A15-88F2-4109-B3FD-B20FE8E42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48150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1687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687F8"/>
                </a:solidFill>
                <a:latin typeface="Microsoft YaHei"/>
                <a:ea typeface="Microsoft YaHei"/>
                <a:cs typeface="Microsoft YaHei"/>
              </a:rPr>
              <a:t>general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BBB414-21BF-4814-834E-69FD51E88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rPr>
              <a:t>无需企业证据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45E246-12D5-4DC2-A712-14605941F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638550"/>
            <a:ext cx="1981200" cy="17716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56D6E7-FE2E-4AD0-8616-BFAB1614C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638550"/>
            <a:ext cx="1981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B4D8"/>
          </a:solidFill>
          <a:ln xmlns:a="http://schemas.openxmlformats.org/drawingml/2006/main" w="9525">
            <a:solidFill>
              <a:srgbClr val="08B4D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4CF5AF-132D-4B49-8579-3B3C237C1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857625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rPr>
              <a:t>知识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7BD58D-E29F-459D-9029-969157020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248150"/>
            <a:ext cx="1562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B4D8">
              <a:alpha val="12549"/>
            </a:srgbClr>
          </a:solidFill>
          <a:ln xmlns:a="http://schemas.openxmlformats.org/drawingml/2006/main" w="9525">
            <a:solidFill>
              <a:srgbClr val="08B4D8">
                <a:alpha val="37647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8666D3-524E-46B7-9E32-F3F2B098A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248150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08B4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8B4D8"/>
                </a:solidFill>
                <a:latin typeface="Microsoft YaHei"/>
                <a:ea typeface="Microsoft YaHei"/>
                <a:cs typeface="Microsoft YaHei"/>
              </a:rPr>
              <a:t>knowledge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5D750DD-26DB-44C7-A8C4-B003A9795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72440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rPr>
              <a:t>WISE / IMA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4848DB1-E4E4-4EFE-B7C4-0D888B2A9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638550"/>
            <a:ext cx="1981200" cy="17716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8571C72-46BC-4A84-9369-146F069CA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638550"/>
            <a:ext cx="1981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B673"/>
          </a:solidFill>
          <a:ln xmlns:a="http://schemas.openxmlformats.org/drawingml/2006/main" w="9525">
            <a:solidFill>
              <a:srgbClr val="2BB67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14F632-939D-4E1C-93F5-328280725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857625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rPr>
              <a:t>业务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04BCAE1-1E7D-4A59-9BE4-31DB11D95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248150"/>
            <a:ext cx="1562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B673">
              <a:alpha val="12549"/>
            </a:srgbClr>
          </a:solidFill>
          <a:ln xmlns:a="http://schemas.openxmlformats.org/drawingml/2006/main" w="9525">
            <a:solidFill>
              <a:srgbClr val="2BB673">
                <a:alpha val="37647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CBA9228-A697-4E80-9B6E-4C7B016AD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248150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2BB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BB673"/>
                </a:solidFill>
                <a:latin typeface="Microsoft YaHei"/>
                <a:ea typeface="Microsoft YaHei"/>
                <a:cs typeface="Microsoft YaHei"/>
              </a:rPr>
              <a:t>business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3FC8905-47D3-4BD2-A466-4A1A2E15F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72440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rPr>
              <a:t>采购 Tool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8F50047-B85B-49F3-8B73-A767AE2E3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638550"/>
            <a:ext cx="1981200" cy="17716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3D4F0E4-CC02-4575-A487-44680E0E9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638550"/>
            <a:ext cx="1981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A93B"/>
          </a:solidFill>
          <a:ln xmlns:a="http://schemas.openxmlformats.org/drawingml/2006/main" w="9525">
            <a:solidFill>
              <a:srgbClr val="F2A93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77D8576-85B9-4839-BF20-D594374BA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857625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rPr>
              <a:t>复合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8580416-7260-4F27-AC11-CAC18BBCA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248150"/>
            <a:ext cx="1562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A93B">
              <a:alpha val="12549"/>
            </a:srgbClr>
          </a:solidFill>
          <a:ln xmlns:a="http://schemas.openxmlformats.org/drawingml/2006/main" w="9525">
            <a:solidFill>
              <a:srgbClr val="F2A93B">
                <a:alpha val="37647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D85AEB8-BD9F-454D-8972-9D3BDC30A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248150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2A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2A93B"/>
                </a:solidFill>
                <a:latin typeface="Microsoft YaHei"/>
                <a:ea typeface="Microsoft YaHei"/>
                <a:cs typeface="Microsoft YaHei"/>
              </a:rPr>
              <a:t>composite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098208D-43E5-41E6-AD8F-D05B91F24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72440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rPr>
              <a:t>数据 + 知识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68F84FC-7518-4A17-AB93-C665E2C48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638550"/>
            <a:ext cx="1981200" cy="17716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E935934-B698-4588-B3F5-AA8CFF937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638550"/>
            <a:ext cx="1981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5E5E"/>
          </a:solidFill>
          <a:ln xmlns:a="http://schemas.openxmlformats.org/drawingml/2006/main" w="9525">
            <a:solidFill>
              <a:srgbClr val="E55E5E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3D3A2CB-8B40-4733-8BBD-F1B2438B3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857625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rPr>
              <a:t>澄清 / 拒绝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89630BC-6ED2-47EF-834B-151F8A98A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248150"/>
            <a:ext cx="1562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5E5E">
              <a:alpha val="12549"/>
            </a:srgbClr>
          </a:solidFill>
          <a:ln xmlns:a="http://schemas.openxmlformats.org/drawingml/2006/main" w="9525">
            <a:solidFill>
              <a:srgbClr val="E55E5E">
                <a:alpha val="37647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993E10B-AB0E-45FB-A345-5ED7C2745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248150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E55E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55E5E"/>
                </a:solidFill>
                <a:latin typeface="Microsoft YaHei"/>
                <a:ea typeface="Microsoft YaHei"/>
                <a:cs typeface="Microsoft YaHei"/>
              </a:rPr>
              <a:t>clarify / action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2DA9047-18A4-4395-8450-2E116BBF2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72440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rPr>
              <a:t>缺参数或越权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94BFC86-5C2A-44A7-8822-EDB93F5EE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rPr>
              <a:t>关键词只作为语言内容；真正决定执行的是完整语义形成的结构化计划。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CF18731-7715-49BB-A380-A29F05DB5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8CA2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CA2B1"/>
                </a:solidFill>
                <a:latin typeface="Microsoft YaHei"/>
                <a:ea typeface="Microsoft YaHei"/>
                <a:cs typeface="Microsoft YaHei"/>
              </a:rPr>
              <a:t>ERP 智能问答与采购分析平台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CE3FC8E-497D-4CF2-86EF-40B0BC12D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8652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8CA2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CA2B1"/>
                </a:solidFill>
                <a:latin typeface="Microsoft YaHei"/>
                <a:ea typeface="Microsoft YaHei"/>
                <a:cs typeface="Microsoft YaHei"/>
              </a:rPr>
              <a:t>04 / 16</a:t>
            </a:r>
          </a:p>
        </p:txBody>
      </p:sp>
    </p:spTree>
    <p:extLst>
      <p:ext uri="{BB962C8B-B14F-4D97-AF65-F5344CB8AC3E}">
        <p14:creationId xmlns:p14="http://schemas.microsoft.com/office/powerpoint/2010/main" val="5286649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F2D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DC2027C-EB5D-44FC-B75A-136F29078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08B4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8B4D8"/>
                </a:solidFill>
                <a:latin typeface="Microsoft YaHei"/>
                <a:ea typeface="Microsoft YaHei"/>
                <a:cs typeface="Microsoft YaHei"/>
              </a:rPr>
              <a:t>04 · 编排机制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9A641C-E6A2-4039-A9B4-DB0F94639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LangGraph 主编排：受控的 Agent 循环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DB7B05-07D4-418A-AC42-6C8A30F6E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28625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1">
                <a:solidFill>
                  <a:srgbClr val="9EC4D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9EC4D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96AF3C-32C2-4FFB-A6C8-EE2D7C6BD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15430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63E59"/>
          </a:solidFill>
          <a:ln xmlns:a="http://schemas.openxmlformats.org/drawingml/2006/main" w="9525">
            <a:solidFill>
              <a:srgbClr val="2E647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51662F-171B-4C42-A8E9-994FB8B0C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15430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7F8"/>
          </a:solidFill>
          <a:ln xmlns:a="http://schemas.openxmlformats.org/drawingml/2006/main" w="9525">
            <a:solidFill>
              <a:srgbClr val="1687F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21DB8A-DCBD-4497-B3E9-C15EDA11A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781175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恢复上下文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2C3B7D-2E0D-4F80-8704-D929AB859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43125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0">
                <a:solidFill>
                  <a:srgbClr val="92B7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2B7CA"/>
                </a:solidFill>
                <a:latin typeface="Microsoft YaHei"/>
                <a:ea typeface="Microsoft YaHei"/>
                <a:cs typeface="Microsoft YaHei"/>
              </a:rPr>
              <a:t>restore_context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39746C-FE1B-44A6-A031-298BE8422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619250"/>
            <a:ext cx="15430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63E59"/>
          </a:solidFill>
          <a:ln xmlns:a="http://schemas.openxmlformats.org/drawingml/2006/main" w="9525">
            <a:solidFill>
              <a:srgbClr val="2E647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41D4A1-E0B4-483A-A142-FF455C8FC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619250"/>
            <a:ext cx="15430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A93B"/>
          </a:solidFill>
          <a:ln xmlns:a="http://schemas.openxmlformats.org/drawingml/2006/main" w="9525">
            <a:solidFill>
              <a:srgbClr val="F2A93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D088EE-4F45-45ED-B9DF-B8AFB9F3C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781175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请求护栏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B8F817-ECDA-425F-890B-199CB85BE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143125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0">
                <a:solidFill>
                  <a:srgbClr val="92B7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2B7CA"/>
                </a:solidFill>
                <a:latin typeface="Microsoft YaHei"/>
                <a:ea typeface="Microsoft YaHei"/>
                <a:cs typeface="Microsoft YaHei"/>
              </a:rPr>
              <a:t>request_guard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B09FBA-4759-441B-B7A2-AF2DB4F3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19250"/>
            <a:ext cx="15430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63E59"/>
          </a:solidFill>
          <a:ln xmlns:a="http://schemas.openxmlformats.org/drawingml/2006/main" w="9525">
            <a:solidFill>
              <a:srgbClr val="2E647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A33ABF-B6EA-4299-9859-F509AD4D6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19250"/>
            <a:ext cx="15430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B4D8"/>
          </a:solidFill>
          <a:ln xmlns:a="http://schemas.openxmlformats.org/drawingml/2006/main" w="9525">
            <a:solidFill>
              <a:srgbClr val="08B4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4CCD13-54FB-48F4-B223-C3A715C83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781175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发现 Tool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6C8528-D634-44E9-BB68-FEEBB22B3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143125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0">
                <a:solidFill>
                  <a:srgbClr val="92B7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2B7CA"/>
                </a:solidFill>
                <a:latin typeface="Microsoft YaHei"/>
                <a:ea typeface="Microsoft YaHei"/>
                <a:cs typeface="Microsoft YaHei"/>
              </a:rPr>
              <a:t>discover_tools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7A546E-BB4E-4124-A8FE-A2337A2F6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619250"/>
            <a:ext cx="15430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63E59"/>
          </a:solidFill>
          <a:ln xmlns:a="http://schemas.openxmlformats.org/drawingml/2006/main" w="9525">
            <a:solidFill>
              <a:srgbClr val="2E647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C7D400-735A-4C4E-A964-26B138AC6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619250"/>
            <a:ext cx="15430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B673"/>
          </a:solidFill>
          <a:ln xmlns:a="http://schemas.openxmlformats.org/drawingml/2006/main" w="9525">
            <a:solidFill>
              <a:srgbClr val="2BB67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C77442-169E-4846-AC7F-3AF5637FB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81175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Agent 决策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FA051D-11DC-4820-9C2C-5AE611A93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143125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0">
                <a:solidFill>
                  <a:srgbClr val="92B7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2B7CA"/>
                </a:solidFill>
                <a:latin typeface="Microsoft YaHei"/>
                <a:ea typeface="Microsoft YaHei"/>
                <a:cs typeface="Microsoft YaHei"/>
              </a:rPr>
              <a:t>agent_step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42D36B-C5AB-4F3E-A050-7C4D2740A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619250"/>
            <a:ext cx="15430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63E59"/>
          </a:solidFill>
          <a:ln xmlns:a="http://schemas.openxmlformats.org/drawingml/2006/main" w="9525">
            <a:solidFill>
              <a:srgbClr val="2E647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BF792B-4535-4ACD-877D-F3F169C18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619250"/>
            <a:ext cx="15430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7F8"/>
          </a:solidFill>
          <a:ln xmlns:a="http://schemas.openxmlformats.org/drawingml/2006/main" w="9525">
            <a:solidFill>
              <a:srgbClr val="1687F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58176A-95DB-4F66-8326-CCF2FC281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781175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执行 Tool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DE7C7A-86EC-4DE2-BB35-D1A53AF28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143125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0">
                <a:solidFill>
                  <a:srgbClr val="92B7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2B7CA"/>
                </a:solidFill>
                <a:latin typeface="Microsoft YaHei"/>
                <a:ea typeface="Microsoft YaHei"/>
                <a:cs typeface="Microsoft YaHei"/>
              </a:rPr>
              <a:t>execute_tools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998CEA-E545-4AFB-AD65-F68DAD8B2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33750"/>
            <a:ext cx="15430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63E59"/>
          </a:solidFill>
          <a:ln xmlns:a="http://schemas.openxmlformats.org/drawingml/2006/main" w="9525">
            <a:solidFill>
              <a:srgbClr val="2E647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EA9130-C129-44FF-A865-6EF762EE5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33750"/>
            <a:ext cx="15430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B4D8"/>
          </a:solidFill>
          <a:ln xmlns:a="http://schemas.openxmlformats.org/drawingml/2006/main" w="9525">
            <a:solidFill>
              <a:srgbClr val="08B4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BA190B-02E7-4465-9F29-DAAEA44EF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495675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观察结果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5C7DBD-FFF6-4294-B905-4F3F9E1AE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857625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0">
                <a:solidFill>
                  <a:srgbClr val="92B7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2B7CA"/>
                </a:solidFill>
                <a:latin typeface="Microsoft YaHei"/>
                <a:ea typeface="Microsoft YaHei"/>
                <a:cs typeface="Microsoft YaHei"/>
              </a:rPr>
              <a:t>observe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E04CD0-209F-41C5-B5D4-E9BE5FC72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333750"/>
            <a:ext cx="15430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63E59"/>
          </a:solidFill>
          <a:ln xmlns:a="http://schemas.openxmlformats.org/drawingml/2006/main" w="9525">
            <a:solidFill>
              <a:srgbClr val="2E647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E690BB-43CF-4B35-87C8-1888B00FB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333750"/>
            <a:ext cx="15430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B673"/>
          </a:solidFill>
          <a:ln xmlns:a="http://schemas.openxmlformats.org/drawingml/2006/main" w="9525">
            <a:solidFill>
              <a:srgbClr val="2BB67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E6E346-4141-45CC-9551-6363467C1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495675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答案合成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315B44-6425-4ACF-BA9B-DE48A292D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857625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0">
                <a:solidFill>
                  <a:srgbClr val="92B7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2B7CA"/>
                </a:solidFill>
                <a:latin typeface="Microsoft YaHei"/>
                <a:ea typeface="Microsoft YaHei"/>
                <a:cs typeface="Microsoft YaHei"/>
              </a:rPr>
              <a:t>synthesize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7671DE7-9636-4553-B6D8-86AF82B07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33750"/>
            <a:ext cx="15430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63E59"/>
          </a:solidFill>
          <a:ln xmlns:a="http://schemas.openxmlformats.org/drawingml/2006/main" w="9525">
            <a:solidFill>
              <a:srgbClr val="2E647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35FC606-5B64-4795-A61D-93782685A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33750"/>
            <a:ext cx="15430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A93B"/>
          </a:solidFill>
          <a:ln xmlns:a="http://schemas.openxmlformats.org/drawingml/2006/main" w="9525">
            <a:solidFill>
              <a:srgbClr val="F2A93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FDDF23D-56E8-4DE2-8E6A-CE6547714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495675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证据验证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D29EBC8-4263-44DF-866A-295DDD77D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857625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0">
                <a:solidFill>
                  <a:srgbClr val="92B7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2B7CA"/>
                </a:solidFill>
                <a:latin typeface="Microsoft YaHei"/>
                <a:ea typeface="Microsoft YaHei"/>
                <a:cs typeface="Microsoft YaHei"/>
              </a:rPr>
              <a:t>verify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CF0095E-70E9-44AE-B852-6311C936E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333750"/>
            <a:ext cx="15430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63E59"/>
          </a:solidFill>
          <a:ln xmlns:a="http://schemas.openxmlformats.org/drawingml/2006/main" w="9525">
            <a:solidFill>
              <a:srgbClr val="2E647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8D0E6E2-2D3D-4E16-9082-90CD9ED5C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333750"/>
            <a:ext cx="15430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7F8"/>
          </a:solidFill>
          <a:ln xmlns:a="http://schemas.openxmlformats.org/drawingml/2006/main" w="9525">
            <a:solidFill>
              <a:srgbClr val="1687F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E1BA004-D2E7-40AE-99FC-D48D17F10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495675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最终响应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E6D5072-1C5E-4A93-9945-F4C33BE47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857625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0">
                <a:solidFill>
                  <a:srgbClr val="92B7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2B7CA"/>
                </a:solidFill>
                <a:latin typeface="Microsoft YaHei"/>
                <a:ea typeface="Microsoft YaHei"/>
                <a:cs typeface="Microsoft YaHei"/>
              </a:rPr>
              <a:t>respond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2960C88-44CB-4152-B522-95EDF3F83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095500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AEC8"/>
          </a:solidFill>
          <a:ln xmlns:a="http://schemas.openxmlformats.org/drawingml/2006/main" w="9525">
            <a:solidFill>
              <a:srgbClr val="6EAEC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B534D88-C8F3-4178-BAB8-A2F17B036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9621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6EAE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6EAEC8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1775F04-A38B-4312-AB0F-A12395AAE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95500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AEC8"/>
          </a:solidFill>
          <a:ln xmlns:a="http://schemas.openxmlformats.org/drawingml/2006/main" w="9525">
            <a:solidFill>
              <a:srgbClr val="6EAEC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2D36F6E-2713-4C35-AF29-AC844BB6A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9621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6EAE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6EAEC8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59CAC6B-B841-4992-9DEB-77E39E6E6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95500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AEC8"/>
          </a:solidFill>
          <a:ln xmlns:a="http://schemas.openxmlformats.org/drawingml/2006/main" w="9525">
            <a:solidFill>
              <a:srgbClr val="6EAEC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C133BB1-1AC8-4C81-8D94-91536476F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621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6EAE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6EAEC8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DDD779D-8414-452B-9033-86E8D59A9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95500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AEC8"/>
          </a:solidFill>
          <a:ln xmlns:a="http://schemas.openxmlformats.org/drawingml/2006/main" w="9525">
            <a:solidFill>
              <a:srgbClr val="6EAEC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A5C67BD-920D-429D-8DF1-6AC76D632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9621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6EAE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6EAEC8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3BDF391-2BF9-42C7-B03B-13DC43105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2609850"/>
            <a:ext cx="38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AEC8"/>
          </a:solidFill>
          <a:ln xmlns:a="http://schemas.openxmlformats.org/drawingml/2006/main" w="9525">
            <a:solidFill>
              <a:srgbClr val="6EAEC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27BAC4C-105E-426C-95D4-AF9E2D356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0861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6EAE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6EAEC8"/>
                </a:solidFill>
                <a:latin typeface="Microsoft YaHei"/>
                <a:ea typeface="Microsoft YaHei"/>
                <a:cs typeface="Microsoft YaHei"/>
              </a:rPr>
              <a:t>⌄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DA6151C-ECE1-406B-B6FB-2AA12EBC6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810000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AEC8"/>
          </a:solidFill>
          <a:ln xmlns:a="http://schemas.openxmlformats.org/drawingml/2006/main" w="9525">
            <a:solidFill>
              <a:srgbClr val="6EAEC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C247326-0213-44CA-9FC7-008CF53E2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6766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6EAE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6EAEC8"/>
                </a:solidFill>
                <a:latin typeface="Microsoft YaHei"/>
                <a:ea typeface="Microsoft YaHei"/>
                <a:cs typeface="Microsoft YaHei"/>
              </a:rPr>
              <a:t>‹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816B69D-2A4B-4797-ADD7-220B9097C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10000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AEC8"/>
          </a:solidFill>
          <a:ln xmlns:a="http://schemas.openxmlformats.org/drawingml/2006/main" w="9525">
            <a:solidFill>
              <a:srgbClr val="6EAEC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645F51C-0D8B-48D8-B543-27C1162AB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766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6EAE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6EAEC8"/>
                </a:solidFill>
                <a:latin typeface="Microsoft YaHei"/>
                <a:ea typeface="Microsoft YaHei"/>
                <a:cs typeface="Microsoft YaHei"/>
              </a:rPr>
              <a:t>‹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C4E3D5D-3523-4E25-AC12-0575954E9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810000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AEC8"/>
          </a:solidFill>
          <a:ln xmlns:a="http://schemas.openxmlformats.org/drawingml/2006/main" w="9525">
            <a:solidFill>
              <a:srgbClr val="6EAEC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F23D277-F7D1-4875-AD19-A0F2B244E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766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6EAE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6EAEC8"/>
                </a:solidFill>
                <a:latin typeface="Microsoft YaHei"/>
                <a:ea typeface="Microsoft YaHei"/>
                <a:cs typeface="Microsoft YaHei"/>
              </a:rPr>
              <a:t>‹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5568A59-23B2-40F9-82DF-77C6EBB2C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74320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AEC8"/>
          </a:solidFill>
          <a:ln xmlns:a="http://schemas.openxmlformats.org/drawingml/2006/main" w="9525">
            <a:solidFill>
              <a:srgbClr val="6EAEC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BEDEDF7-AD7E-474A-829F-354214EDB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6860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6EAE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6EAEC8"/>
                </a:solidFill>
                <a:latin typeface="Microsoft YaHei"/>
                <a:ea typeface="Microsoft YaHei"/>
                <a:cs typeface="Microsoft YaHei"/>
              </a:rPr>
              <a:t>⌃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3C59B6D-B66F-48D5-9CD8-36902EFAA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90512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rPr>
              <a:t>需更多证据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C1C3089-1F87-4DE2-94D0-129F69F61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4324350"/>
            <a:ext cx="38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3B"/>
          </a:solidFill>
          <a:ln xmlns:a="http://schemas.openxmlformats.org/drawingml/2006/main" w="9525">
            <a:solidFill>
              <a:srgbClr val="F2A93B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EDA408F-2946-47A9-A4BD-1875856E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47434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F2A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2A93B"/>
                </a:solidFill>
                <a:latin typeface="Microsoft YaHei"/>
                <a:ea typeface="Microsoft YaHei"/>
                <a:cs typeface="Microsoft YaHei"/>
              </a:rPr>
              <a:t>⌄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2407AA2-4453-4211-A2BA-C4AF8D061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450532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rPr>
              <a:t>可修复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47997EF-F1DA-4300-BDCC-2FD22A3CC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029200"/>
            <a:ext cx="15430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3F3440"/>
          </a:solidFill>
          <a:ln xmlns:a="http://schemas.openxmlformats.org/drawingml/2006/main" w="9525">
            <a:solidFill>
              <a:srgbClr val="8F6570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1676539-C353-4A77-82E9-33592A04D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162550"/>
            <a:ext cx="1314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D9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D9D9"/>
                </a:solidFill>
                <a:latin typeface="Microsoft YaHei"/>
                <a:ea typeface="Microsoft YaHei"/>
                <a:cs typeface="Microsoft YaHei"/>
              </a:rPr>
              <a:t>repair（最多 1 次）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0CBF51F-FC74-4061-9B53-E6961FFE6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353050"/>
            <a:ext cx="152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3B"/>
          </a:solidFill>
          <a:ln xmlns:a="http://schemas.openxmlformats.org/drawingml/2006/main" w="9525">
            <a:solidFill>
              <a:srgbClr val="F2A93B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66F3BDC-44FE-423B-A39B-C4971932A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2197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F2A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2A93B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B593F6C-B61D-4358-93F8-F3D6EE0F2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29050"/>
            <a:ext cx="381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3B"/>
          </a:solidFill>
          <a:ln xmlns:a="http://schemas.openxmlformats.org/drawingml/2006/main" w="9525">
            <a:solidFill>
              <a:srgbClr val="F2A93B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B3EA6BC-2E4B-4257-9D44-52A22CAC1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719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F2A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2A93B"/>
                </a:solidFill>
                <a:latin typeface="Microsoft YaHei"/>
                <a:ea typeface="Microsoft YaHei"/>
                <a:cs typeface="Microsoft YaHei"/>
              </a:rPr>
              <a:t>⌃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5DEA449-9B19-4F1E-8915-25E7DCC7E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6722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rPr>
              <a:t>复验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F91E27D-CFA7-4E0E-91DD-488ADAF86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10000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3B"/>
          </a:solidFill>
          <a:ln xmlns:a="http://schemas.openxmlformats.org/drawingml/2006/main" w="9525">
            <a:solidFill>
              <a:srgbClr val="F2A93B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028E218-5F8D-4D1E-94EF-3C27477DC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766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F2A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2A93B"/>
                </a:solidFill>
                <a:latin typeface="Microsoft YaHei"/>
                <a:ea typeface="Microsoft YaHei"/>
                <a:cs typeface="Microsoft YaHei"/>
              </a:rPr>
              <a:t>‹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6C1CCEC-37C2-4DB0-9E70-0DCCB2F36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30480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62F43"/>
          </a:solidFill>
          <a:ln xmlns:a="http://schemas.openxmlformats.org/drawingml/2006/main" w="9525">
            <a:solidFill>
              <a:srgbClr val="31536A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4F142DA-1810-4E22-A7C3-79386A6BA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05425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B6D1D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6D1DF"/>
                </a:solidFill>
                <a:latin typeface="Microsoft YaHei"/>
                <a:ea typeface="Microsoft YaHei"/>
                <a:cs typeface="Microsoft YaHei"/>
              </a:rPr>
              <a:t>旁路：clarify / reject / error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1911950-D15F-4287-A951-282810B62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334000"/>
            <a:ext cx="1333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3D57"/>
          </a:solidFill>
          <a:ln xmlns:a="http://schemas.openxmlformats.org/drawingml/2006/main" w="9525">
            <a:solidFill>
              <a:srgbClr val="315F7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A287C3C-3B2B-4A0A-A392-B2998C049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33400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8EDD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8EDDF0"/>
                </a:solidFill>
                <a:latin typeface="Microsoft YaHei"/>
                <a:ea typeface="Microsoft YaHei"/>
                <a:cs typeface="Microsoft YaHei"/>
              </a:rPr>
              <a:t>125s 总超时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031388A-F9C3-40DB-AF44-685FA6104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334000"/>
            <a:ext cx="952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3D57"/>
          </a:solidFill>
          <a:ln xmlns:a="http://schemas.openxmlformats.org/drawingml/2006/main" w="9525">
            <a:solidFill>
              <a:srgbClr val="315F7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C168BC0-1861-4A72-A840-09F5DF3E0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334000"/>
            <a:ext cx="83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8EDD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8EDDF0"/>
                </a:solidFill>
                <a:latin typeface="Microsoft YaHei"/>
                <a:ea typeface="Microsoft YaHei"/>
                <a:cs typeface="Microsoft YaHei"/>
              </a:rPr>
              <a:t>Tool ≤ 8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71D2187-E105-4390-9E93-B52B5654C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334000"/>
            <a:ext cx="952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3D57"/>
          </a:solidFill>
          <a:ln xmlns:a="http://schemas.openxmlformats.org/drawingml/2006/main" w="9525">
            <a:solidFill>
              <a:srgbClr val="315F7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E8A1144-A8CF-4BCE-A82E-A4414A7F7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5334000"/>
            <a:ext cx="83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8EDD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8EDDF0"/>
                </a:solidFill>
                <a:latin typeface="Microsoft YaHei"/>
                <a:ea typeface="Microsoft YaHei"/>
                <a:cs typeface="Microsoft YaHei"/>
              </a:rPr>
              <a:t>Model ≤ 8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3214D7D-6933-4981-8843-96B62AEC1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88A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8A8BC"/>
                </a:solidFill>
                <a:latin typeface="Microsoft YaHei"/>
                <a:ea typeface="Microsoft YaHei"/>
                <a:cs typeface="Microsoft YaHei"/>
              </a:rPr>
              <a:t>ERP 智能问答与采购分析平台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B501B2D-73DC-4BA3-8545-DC4950BD1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8652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88A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8A8BC"/>
                </a:solidFill>
                <a:latin typeface="Microsoft YaHei"/>
                <a:ea typeface="Microsoft YaHei"/>
                <a:cs typeface="Microsoft YaHei"/>
              </a:rPr>
              <a:t>05 / 16</a:t>
            </a:r>
          </a:p>
        </p:txBody>
      </p:sp>
    </p:spTree>
    <p:extLst>
      <p:ext uri="{BB962C8B-B14F-4D97-AF65-F5344CB8AC3E}">
        <p14:creationId xmlns:p14="http://schemas.microsoft.com/office/powerpoint/2010/main" val="20783001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1C8CE93-128C-4A1A-ACB2-CB79ADFE5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687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7F8"/>
                </a:solidFill>
                <a:latin typeface="Microsoft YaHei"/>
                <a:ea typeface="Microsoft YaHei"/>
                <a:cs typeface="Microsoft YaHei"/>
              </a:rPr>
              <a:t>05 · 工具调用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F8B154-32DA-4610-BF04-F0EC9FBD3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rPr>
              <a:t>Tool Contract：把模型意图变成确定性执行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D1FE1B-681B-4581-B375-4A93BF08E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B0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AB0B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3E49A0-434D-40F0-ADF8-E58CC2C99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E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023D4D-686F-4982-AE70-12B46B7A0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562100" cy="21526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C27EFD-EDEE-4EEB-9C95-3248A997E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9240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7F8"/>
          </a:solidFill>
          <a:ln xmlns:a="http://schemas.openxmlformats.org/drawingml/2006/main" w="0">
            <a:solidFill>
              <a:srgbClr val="1687F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920268-FFAC-4A6C-9674-8C4A8AA2F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9240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06FECA-DC6E-4C97-AAB6-82FD5BDE6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09850"/>
            <a:ext cx="125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rPr>
              <a:t>执行计划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7328FC-649B-4809-A6CB-9C92C998B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1219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rPr>
              <a:t>required_tools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rPr>
              <a:t>+ tool_arguments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C32827-7EC9-4DA6-9955-2727AB832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809875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F8"/>
          </a:solidFill>
          <a:ln xmlns:a="http://schemas.openxmlformats.org/drawingml/2006/main" w="9525">
            <a:solidFill>
              <a:srgbClr val="1687F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C3850E-4EA4-432F-9A2F-FBE746D97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6765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1687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87F8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97872D-AC5D-4376-B48F-C85C7AC57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752600"/>
            <a:ext cx="1562100" cy="21526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C247D2-A347-4312-BC32-3FA50D0B6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9240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4D8"/>
          </a:solidFill>
          <a:ln xmlns:a="http://schemas.openxmlformats.org/drawingml/2006/main" w="0">
            <a:solidFill>
              <a:srgbClr val="08B4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64CDA7-BD3A-4216-84F6-E173DB0C4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9240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4BA810-6AD6-46D9-8375-57D2AA0B7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609850"/>
            <a:ext cx="125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rPr>
              <a:t>Tool 发现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723665-FA8C-4593-9E1C-5162B6BF1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048000"/>
            <a:ext cx="1219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rPr>
              <a:t>语义 / 权限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rPr>
              <a:t>风险 / 健康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3F667B-4CEE-4DD5-80A4-0A192DF7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809875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F8"/>
          </a:solidFill>
          <a:ln xmlns:a="http://schemas.openxmlformats.org/drawingml/2006/main" w="9525">
            <a:solidFill>
              <a:srgbClr val="1687F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C96FB8-2EFA-4E58-83AE-B78ACA02A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765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1687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87F8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63D74F-6F35-4423-817E-D303FC3E2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52600"/>
            <a:ext cx="1562100" cy="21526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7ED6DD-53DF-4CA2-B7AE-61D364145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9240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93B"/>
          </a:solidFill>
          <a:ln xmlns:a="http://schemas.openxmlformats.org/drawingml/2006/main" w="0">
            <a:solidFill>
              <a:srgbClr val="F2A93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FE2C03-E65D-4DFA-A716-D1D6AC715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9240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F8347D-3641-490B-8D3D-E5203A1D1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9850"/>
            <a:ext cx="125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rPr>
              <a:t>Schema 校验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734992-3819-4711-9ABB-542752E58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48000"/>
            <a:ext cx="1219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rPr>
              <a:t>Pydantic 输入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rPr>
              <a:t>缺参则澄清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F056CB-79EE-46EC-9B70-ACB5A144D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809875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F8"/>
          </a:solidFill>
          <a:ln xmlns:a="http://schemas.openxmlformats.org/drawingml/2006/main" w="9525">
            <a:solidFill>
              <a:srgbClr val="1687F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50FBAF-8003-4C3A-9413-52B14C5F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765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1687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87F8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EE2CC4-67BF-43F1-B58A-1FB238B22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752600"/>
            <a:ext cx="1562100" cy="21526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188505-095E-4C29-8353-A52F8D7FE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9240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B673"/>
          </a:solidFill>
          <a:ln xmlns:a="http://schemas.openxmlformats.org/drawingml/2006/main" w="0">
            <a:solidFill>
              <a:srgbClr val="2BB67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3709CE-942B-48A2-8371-E574EBE9E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9240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6943C9-7192-4F60-BC57-00145607B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09850"/>
            <a:ext cx="125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rPr>
              <a:t>受控执行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201A32A-A78B-4B48-8D51-78E1F4489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48000"/>
            <a:ext cx="1219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rPr>
              <a:t>ToolExecutor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rPr>
              <a:t>租户组织上下文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ABFF1F-5572-4FE9-8F90-F7295F61D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809875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F8"/>
          </a:solidFill>
          <a:ln xmlns:a="http://schemas.openxmlformats.org/drawingml/2006/main" w="9525">
            <a:solidFill>
              <a:srgbClr val="1687F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257E5EB-451A-41A0-A17A-8BB302872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6765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1687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87F8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E25CCB-C0DC-46D2-8A56-4175A8CA1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752600"/>
            <a:ext cx="1562100" cy="21526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FE7916F-64E3-43DF-A009-72192885D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240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7F8"/>
          </a:solidFill>
          <a:ln xmlns:a="http://schemas.openxmlformats.org/drawingml/2006/main" w="0">
            <a:solidFill>
              <a:srgbClr val="1687F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F1120D-7C71-479A-8CEE-4069A8003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240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6A683CB-E256-4FE7-B130-5D7E4E69E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609850"/>
            <a:ext cx="125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rPr>
              <a:t>Artifact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E0E93E2-1602-4276-A327-9CE4A98DD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48000"/>
            <a:ext cx="1219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rPr>
              <a:t>结构化事实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rPr>
              <a:t>冻结业务字段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1AA0064-F301-4545-A9F2-52720ABBA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809875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F8"/>
          </a:solidFill>
          <a:ln xmlns:a="http://schemas.openxmlformats.org/drawingml/2006/main" w="9525">
            <a:solidFill>
              <a:srgbClr val="1687F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729406D-4327-4CF2-A5F5-EE90018AD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765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1687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87F8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DFF972D-5D83-48BA-B809-498ED551E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752600"/>
            <a:ext cx="1562100" cy="21526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F26D65E-51BE-4CEA-B616-831A864BA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9240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B57"/>
          </a:solidFill>
          <a:ln xmlns:a="http://schemas.openxmlformats.org/drawingml/2006/main" w="0">
            <a:solidFill>
              <a:srgbClr val="173B5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F0F05DB-191D-4CE8-861B-1C6DD7B80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9240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B01D9B5-C6C8-4F2C-87B4-1F2A8C354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609850"/>
            <a:ext cx="125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rPr>
              <a:t>答案验证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DA59E48-A8E9-4F51-B4C0-8B7C9EC09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048000"/>
            <a:ext cx="1219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rPr>
              <a:t>Evidence Verify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rPr>
              <a:t>用户组件化呈现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527D6A4-8559-49FF-8238-DB7F86895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2476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687F8">
              <a:alpha val="9412"/>
            </a:srgbClr>
          </a:solidFill>
          <a:ln xmlns:a="http://schemas.openxmlformats.org/drawingml/2006/main" w="9525">
            <a:solidFill>
              <a:srgbClr val="1687F8">
                <a:alpha val="33333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298B1CB-3112-4BAD-8291-A9F47D066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67225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687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7F8"/>
                </a:solidFill>
                <a:latin typeface="Microsoft YaHei"/>
                <a:ea typeface="Microsoft YaHei"/>
                <a:cs typeface="Microsoft YaHei"/>
              </a:rPr>
              <a:t>procurement.order.get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549D082-7593-4844-A04C-819F93218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1012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rPr>
              <a:t>单订单状态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F0A84F3-DFC8-4916-AA33-4AE477E30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362450"/>
            <a:ext cx="2476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2BB673">
              <a:alpha val="9412"/>
            </a:srgbClr>
          </a:solidFill>
          <a:ln xmlns:a="http://schemas.openxmlformats.org/drawingml/2006/main" w="9525">
            <a:solidFill>
              <a:srgbClr val="2BB673">
                <a:alpha val="33333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2966946-2A17-4DE4-BF09-C2D333EBD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467225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2BB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BB673"/>
                </a:solidFill>
                <a:latin typeface="Microsoft YaHei"/>
                <a:ea typeface="Microsoft YaHei"/>
                <a:cs typeface="Microsoft YaHei"/>
              </a:rPr>
              <a:t>procurement.orders.list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327D043-2B96-4F57-8A82-FC0C3EFCC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81012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rPr>
              <a:t>未入库 / 逾期列表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276E813-7772-47FE-8C4D-FED99D60C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362450"/>
            <a:ext cx="2476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2A93B">
              <a:alpha val="9412"/>
            </a:srgbClr>
          </a:solidFill>
          <a:ln xmlns:a="http://schemas.openxmlformats.org/drawingml/2006/main" w="9525">
            <a:solidFill>
              <a:srgbClr val="F2A93B">
                <a:alpha val="33333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5D56331-0AA7-495A-B1EF-0DBBA65A2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67225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F2A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2A93B"/>
                </a:solidFill>
                <a:latin typeface="Microsoft YaHei"/>
                <a:ea typeface="Microsoft YaHei"/>
                <a:cs typeface="Microsoft YaHei"/>
              </a:rPr>
              <a:t>procurement.analytics.query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C67F58F-1894-422F-B415-B607796CE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81012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rPr>
              <a:t>经营分析与图表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0C91C31-51CA-4BFB-B278-973CEC35F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362450"/>
            <a:ext cx="2476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08B4D8">
              <a:alpha val="9412"/>
            </a:srgbClr>
          </a:solidFill>
          <a:ln xmlns:a="http://schemas.openxmlformats.org/drawingml/2006/main" w="9525">
            <a:solidFill>
              <a:srgbClr val="08B4D8">
                <a:alpha val="33333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D60D811-C106-4931-B7E3-FF63C0F22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467225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08B4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8B4D8"/>
                </a:solidFill>
                <a:latin typeface="Microsoft YaHei"/>
                <a:ea typeface="Microsoft YaHei"/>
                <a:cs typeface="Microsoft YaHei"/>
              </a:rPr>
              <a:t>knowledge.search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BBA04F5-E688-42EA-A12C-9C79B3CB4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81012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rPr>
              <a:t>制度与流程知识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3C79466-A337-489C-9A0F-EDE882B85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53075"/>
            <a:ext cx="108204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173B57"/>
          </a:solidFill>
          <a:ln xmlns:a="http://schemas.openxmlformats.org/drawingml/2006/main" w="9525">
            <a:solidFill>
              <a:srgbClr val="173B57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D5EA796-9C97-4C91-B7F3-8982CA928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007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Tool 结果始终是结构化 Artifact；普通界面不展示 connector、schema_version、模型版本或内部 envelope。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C490692-CE5D-42B8-BDA3-4F3020E7F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8CA2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CA2B1"/>
                </a:solidFill>
                <a:latin typeface="Microsoft YaHei"/>
                <a:ea typeface="Microsoft YaHei"/>
                <a:cs typeface="Microsoft YaHei"/>
              </a:rPr>
              <a:t>ERP 智能问答与采购分析平台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511CC5C-360F-4626-8F14-D5162CB85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8652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8CA2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CA2B1"/>
                </a:solidFill>
                <a:latin typeface="Microsoft YaHei"/>
                <a:ea typeface="Microsoft YaHei"/>
                <a:cs typeface="Microsoft YaHei"/>
              </a:rPr>
              <a:t>06 / 16</a:t>
            </a:r>
          </a:p>
        </p:txBody>
      </p:sp>
    </p:spTree>
    <p:extLst>
      <p:ext uri="{BB962C8B-B14F-4D97-AF65-F5344CB8AC3E}">
        <p14:creationId xmlns:p14="http://schemas.microsoft.com/office/powerpoint/2010/main" val="1907440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7944A31-415D-42CB-B9ED-9B78755ED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687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7F8"/>
                </a:solidFill>
                <a:latin typeface="Microsoft YaHei"/>
                <a:ea typeface="Microsoft YaHei"/>
                <a:cs typeface="Microsoft YaHei"/>
              </a:rPr>
              <a:t>06 · 治理与安全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B71269-4FE5-419F-A4E0-CC3FE1961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rPr>
              <a:t>Harness：企业 Agent 的运行时护栏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9F9444-D057-49FD-9597-F430FACAE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B0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AB0BF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DB25A5-1C74-4A09-8102-595C067C9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E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091EF5-157E-49B7-9652-823D8CFE1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43125"/>
            <a:ext cx="2667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B57"/>
          </a:solidFill>
          <a:ln xmlns:a="http://schemas.openxmlformats.org/drawingml/2006/main" w="0">
            <a:solidFill>
              <a:srgbClr val="173B5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1629CB-39C5-4281-90B2-EB10C7B5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43125"/>
            <a:ext cx="2667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HARNESS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CEC4B8-8A8A-440A-843F-5C4E3F8F3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1051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B9D6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9D6E5"/>
                </a:solidFill>
                <a:latin typeface="Microsoft YaHei"/>
                <a:ea typeface="Microsoft YaHei"/>
                <a:cs typeface="Microsoft YaHei"/>
              </a:rPr>
              <a:t>统一运行时治理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E4EBB1-084C-4BD6-9DE8-038505F6C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304800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0EE5ED-09E3-4269-A8F0-A86257317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76200" cy="1295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7F8"/>
          </a:solidFill>
          <a:ln xmlns:a="http://schemas.openxmlformats.org/drawingml/2006/main" w="9525">
            <a:solidFill>
              <a:srgbClr val="1687F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E7425A-7557-4FCB-BBA8-0BD0DD104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9070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rPr>
              <a:t>身份与隔离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5F2F91-6FF0-4EE6-B1D4-8E99257DE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00275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rPr>
              <a:t>User · Tenant · Org · Roles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E152BD-85BB-4149-B6A2-53DEDE674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247900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F8"/>
          </a:solidFill>
          <a:ln xmlns:a="http://schemas.openxmlformats.org/drawingml/2006/main" w="9525">
            <a:solidFill>
              <a:srgbClr val="1687F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22535B-7645-48FA-91FD-6A8A4C38A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145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1687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87F8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A4980D-3CB0-4A41-922A-6DA90725E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304800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106B29-E900-4B8C-BA2E-20BED6EB1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76200" cy="1295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A93B"/>
          </a:solidFill>
          <a:ln xmlns:a="http://schemas.openxmlformats.org/drawingml/2006/main" w="9525">
            <a:solidFill>
              <a:srgbClr val="F2A93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52C9CD-1915-49D7-9BAA-0C25B13F6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8620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rPr>
              <a:t>策略与只读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0577B9-1FFD-4BAE-937A-5FF1108C5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95775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rPr>
              <a:t>Tool 白名单 · 风险拒绝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585888-77E9-4630-AD45-41D3CB7D4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343400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3B"/>
          </a:solidFill>
          <a:ln xmlns:a="http://schemas.openxmlformats.org/drawingml/2006/main" w="9525">
            <a:solidFill>
              <a:srgbClr val="F2A93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1D8CFA-04BE-45C5-A530-B3B25F6AF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2100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F2A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2A93B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00FBB7-71AC-4E04-835B-37EB5CE63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19250"/>
            <a:ext cx="304800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BFB30A-07A0-44F6-AF1C-1CC5A2CDE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19250"/>
            <a:ext cx="76200" cy="1295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B4D8"/>
          </a:solidFill>
          <a:ln xmlns:a="http://schemas.openxmlformats.org/drawingml/2006/main" w="9525">
            <a:solidFill>
              <a:srgbClr val="08B4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6E4F42-A989-400A-A3A1-2BFA9BDCC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79070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rPr>
              <a:t>预算与超时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4E0635-62C2-4979-A7C5-26BCF4D6C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200275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rPr>
              <a:t>模型 / Tool / 检索 / 总时长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077D64-1CB7-4640-9D58-F05CF9057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47900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B4D8"/>
          </a:solidFill>
          <a:ln xmlns:a="http://schemas.openxmlformats.org/drawingml/2006/main" w="9525">
            <a:solidFill>
              <a:srgbClr val="08B4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FED304-15DE-4E96-94A5-F16DB41CC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145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08B4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8B4D8"/>
                </a:solidFill>
                <a:latin typeface="Microsoft YaHei"/>
                <a:ea typeface="Microsoft YaHei"/>
                <a:cs typeface="Microsoft YaHei"/>
              </a:rPr>
              <a:t>‹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CDE031-17F5-4CCB-9B4C-28D603473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14750"/>
            <a:ext cx="304800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A082AB-7177-4D13-A913-FC9749E7B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14750"/>
            <a:ext cx="76200" cy="1295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B673"/>
          </a:solidFill>
          <a:ln xmlns:a="http://schemas.openxmlformats.org/drawingml/2006/main" w="9525">
            <a:solidFill>
              <a:srgbClr val="2BB67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393B1E-812F-4F4F-90AB-CA755CF91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88620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rPr>
              <a:t>恢复与审计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3D3C75-376F-4D74-B8CC-7F3E6AD4F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295775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rPr>
              <a:t>Retry · Fallback · Trace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ED3348-D329-4817-97B2-674F22E70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43400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B673"/>
          </a:solidFill>
          <a:ln xmlns:a="http://schemas.openxmlformats.org/drawingml/2006/main" w="9525">
            <a:solidFill>
              <a:srgbClr val="2BB67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DFB80D-493D-4DAB-8852-11932AE28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100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2BB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BB673"/>
                </a:solidFill>
                <a:latin typeface="Microsoft YaHei"/>
                <a:ea typeface="Microsoft YaHei"/>
                <a:cs typeface="Microsoft YaHei"/>
              </a:rPr>
              <a:t>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710BE40-7ED1-40DD-B0C7-E38DD9B76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5238750"/>
            <a:ext cx="1238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BFDF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E9D2184-948D-48ED-960A-A8DDD8F19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5238750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1687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687F8"/>
                </a:solidFill>
                <a:latin typeface="Microsoft YaHei"/>
                <a:ea typeface="Microsoft YaHei"/>
                <a:cs typeface="Microsoft YaHei"/>
              </a:rPr>
              <a:t>输入契约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18C928C-A6C0-4934-874B-1EBBDDB70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5238750"/>
            <a:ext cx="1238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5E5"/>
          </a:solidFill>
          <a:ln xmlns:a="http://schemas.openxmlformats.org/drawingml/2006/main" w="9525">
            <a:solidFill>
              <a:srgbClr val="F6D7A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5825EA3-163C-430B-BB36-69FA4DDC1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5238750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2A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2A93B"/>
                </a:solidFill>
                <a:latin typeface="Microsoft YaHei"/>
                <a:ea typeface="Microsoft YaHei"/>
                <a:cs typeface="Microsoft YaHei"/>
              </a:rPr>
              <a:t>证据验证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2433C4A-5CC7-4755-B07C-3402D70E7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5238750"/>
            <a:ext cx="1238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F1"/>
          </a:solidFill>
          <a:ln xmlns:a="http://schemas.openxmlformats.org/drawingml/2006/main" w="9525">
            <a:solidFill>
              <a:srgbClr val="BCE6C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6A25942-B0B5-420D-9A5B-06D05F524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238750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2BB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BB673"/>
                </a:solidFill>
                <a:latin typeface="Microsoft YaHei"/>
                <a:ea typeface="Microsoft YaHei"/>
                <a:cs typeface="Microsoft YaHei"/>
              </a:rPr>
              <a:t>策略审计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40FE1AB-1F83-4F33-BCBF-1EE045493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rPr>
              <a:t>核心价值：让不确定的模型推理，进入可控、可恢复、可追溯的企业执行边界。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CA13340-D2F0-4929-BCC7-47CBF1134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8CA2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CA2B1"/>
                </a:solidFill>
                <a:latin typeface="Microsoft YaHei"/>
                <a:ea typeface="Microsoft YaHei"/>
                <a:cs typeface="Microsoft YaHei"/>
              </a:rPr>
              <a:t>ERP 智能问答与采购分析平台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160A8A6-7857-4A1D-96FD-066434AC2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8652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8CA2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CA2B1"/>
                </a:solidFill>
                <a:latin typeface="Microsoft YaHei"/>
                <a:ea typeface="Microsoft YaHei"/>
                <a:cs typeface="Microsoft YaHei"/>
              </a:rPr>
              <a:t>07 / 16</a:t>
            </a:r>
          </a:p>
        </p:txBody>
      </p:sp>
    </p:spTree>
    <p:extLst>
      <p:ext uri="{BB962C8B-B14F-4D97-AF65-F5344CB8AC3E}">
        <p14:creationId xmlns:p14="http://schemas.microsoft.com/office/powerpoint/2010/main" val="839129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558D6E2-93FE-46ED-8121-F1D230E9A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687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7F8"/>
                </a:solidFill>
                <a:latin typeface="Microsoft YaHei"/>
                <a:ea typeface="Microsoft YaHei"/>
                <a:cs typeface="Microsoft YaHei"/>
              </a:rPr>
              <a:t>07 · 数据接入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7995DC-9F57-4080-A9BD-CD80393A0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rPr>
              <a:t>采购数据库对接：统一服务 + 可替换 Connector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1DCF84-0514-4592-855F-971695C32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B0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AB0BF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C48A3D-314D-4746-957C-6B85885DC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E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3A6D2C-3FBF-4F18-B66C-87C0D6DB8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809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73B57">
              <a:alpha val="9412"/>
            </a:srgbClr>
          </a:solidFill>
          <a:ln xmlns:a="http://schemas.openxmlformats.org/drawingml/2006/main" w="9525">
            <a:solidFill>
              <a:srgbClr val="173B57">
                <a:alpha val="40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C97343-43C2-433C-B8CC-3D3CEB729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526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B57"/>
          </a:solidFill>
          <a:ln xmlns:a="http://schemas.openxmlformats.org/drawingml/2006/main" w="0">
            <a:solidFill>
              <a:srgbClr val="173B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E0588D-B434-45B2-B133-2A6C169AA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526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ECEB0E-8E56-4ED4-ABE8-A42A9F36C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095500"/>
            <a:ext cx="99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rPr>
              <a:t>采购 Agent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5B317A-AE66-40B5-9AFA-ED8A94F9E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90800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rPr>
              <a:t>只读 Tool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877E69-545A-440D-9A0F-FAA798F00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552700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F8"/>
          </a:solidFill>
          <a:ln xmlns:a="http://schemas.openxmlformats.org/drawingml/2006/main" w="9525">
            <a:solidFill>
              <a:srgbClr val="1687F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6E2DF4-C778-4A4C-B449-1370BDCFA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4193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1687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87F8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BC9FB9-E507-481B-8EFE-29DAE03B6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952625"/>
            <a:ext cx="1809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687F8">
              <a:alpha val="9412"/>
            </a:srgbClr>
          </a:solidFill>
          <a:ln xmlns:a="http://schemas.openxmlformats.org/drawingml/2006/main" w="9525">
            <a:solidFill>
              <a:srgbClr val="1687F8">
                <a:alpha val="40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FCF426-F9F1-4B01-865B-B9011E0F5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1526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7F8"/>
          </a:solidFill>
          <a:ln xmlns:a="http://schemas.openxmlformats.org/drawingml/2006/main" w="0">
            <a:solidFill>
              <a:srgbClr val="1687F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A2616F-E04B-49E5-8C84-1E8512EE6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1526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0734C6-38C9-493C-B732-0AD193A1C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95500"/>
            <a:ext cx="99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rPr>
              <a:t>后端适配器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950F9F-95EA-4F1D-B933-E33DAC29E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90800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rPr>
              <a:t>PurchaseOrderAdapter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09D18D-0034-4DB6-B349-FF1687CD3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52700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F8"/>
          </a:solidFill>
          <a:ln xmlns:a="http://schemas.openxmlformats.org/drawingml/2006/main" w="9525">
            <a:solidFill>
              <a:srgbClr val="1687F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7F9821-26BF-4EDB-A226-448AC4BD4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4193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1687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87F8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CB5DC4-5DD6-4B5B-BFD2-8059ADEF6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52625"/>
            <a:ext cx="1809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8B4D8">
              <a:alpha val="9412"/>
            </a:srgbClr>
          </a:solidFill>
          <a:ln xmlns:a="http://schemas.openxmlformats.org/drawingml/2006/main" w="9525">
            <a:solidFill>
              <a:srgbClr val="08B4D8">
                <a:alpha val="40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8042E2-30D2-4C47-B7C0-6DB0DFF2C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1526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4D8"/>
          </a:solidFill>
          <a:ln xmlns:a="http://schemas.openxmlformats.org/drawingml/2006/main" w="0">
            <a:solidFill>
              <a:srgbClr val="08B4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B3AA92-B313-4E1A-A135-2294EE276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1526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95F8E2-E656-4784-A7A8-CAF2EF7C8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095500"/>
            <a:ext cx="99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rPr>
              <a:t>统一采购 API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C2B4E9-79C4-462D-8E99-AFFF371A6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590800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rPr>
              <a:t>:8101 · Tenant/Org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0531F7-EAC0-4AED-9C00-9EE9E428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52700"/>
            <a:ext cx="2571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F8"/>
          </a:solidFill>
          <a:ln xmlns:a="http://schemas.openxmlformats.org/drawingml/2006/main" w="9525">
            <a:solidFill>
              <a:srgbClr val="1687F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6452A7-D57D-4C5E-BE40-F261C47D6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4193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1687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87F8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D0A4BD-FCAD-4D6B-BF89-4B45A629C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952625"/>
            <a:ext cx="1809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2BB673">
              <a:alpha val="9412"/>
            </a:srgbClr>
          </a:solidFill>
          <a:ln xmlns:a="http://schemas.openxmlformats.org/drawingml/2006/main" w="9525">
            <a:solidFill>
              <a:srgbClr val="2BB673">
                <a:alpha val="4000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7E88B0-8914-477C-AECA-0D62C8AD5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1526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B673"/>
          </a:solidFill>
          <a:ln xmlns:a="http://schemas.openxmlformats.org/drawingml/2006/main" w="0">
            <a:solidFill>
              <a:srgbClr val="2BB67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31BAEA-5CD8-4704-8DD7-CB318FAFA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1526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585120-50FC-48A9-87F9-096BAFBFD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095500"/>
            <a:ext cx="99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rPr>
              <a:t>Connector Gateway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F32A06-8048-4F67-A6F8-237CB3C5D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590800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rPr>
              <a:t>File / HTTP / SQLAlchemy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E4AD71C-0DE2-4EEC-9A43-E1804D35B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552700"/>
            <a:ext cx="3524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F8"/>
          </a:solidFill>
          <a:ln xmlns:a="http://schemas.openxmlformats.org/drawingml/2006/main" w="9525">
            <a:solidFill>
              <a:srgbClr val="1687F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0E93AA2-EF18-40B9-850F-0FDE6A923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193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1687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87F8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F29DDD9-0D8F-46FA-8F72-F73BF248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952625"/>
            <a:ext cx="19812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2A93B">
              <a:alpha val="9412"/>
            </a:srgbClr>
          </a:solidFill>
          <a:ln xmlns:a="http://schemas.openxmlformats.org/drawingml/2006/main" w="9525">
            <a:solidFill>
              <a:srgbClr val="F2A93B">
                <a:alpha val="4000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F30E512-EF17-487A-B073-E980EAD41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1526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93B"/>
          </a:solidFill>
          <a:ln xmlns:a="http://schemas.openxmlformats.org/drawingml/2006/main" w="0">
            <a:solidFill>
              <a:srgbClr val="F2A93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21B66B9-9964-4A20-AFE6-81C01DF7B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1526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CA52B58-2A2E-4CF6-BAFA-E88213F1E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095500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rPr>
              <a:t>ERP / 数据库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34A5C6A-D256-4E85-B5E4-BB1FD9797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590800"/>
            <a:ext cx="1638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rPr>
              <a:t>生产业务事实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53707D7-79C0-4DC8-BEE2-65E7A0D36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1082040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6E55DC-F67E-4D3F-A994-0F9D1C7B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2A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2A93B"/>
                </a:solidFill>
                <a:latin typeface="Microsoft YaHei"/>
                <a:ea typeface="Microsoft YaHei"/>
                <a:cs typeface="Microsoft YaHei"/>
              </a:rPr>
              <a:t>演示环境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2662306-675B-457F-A19E-FE649E69E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905250"/>
            <a:ext cx="2000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5E5"/>
          </a:solidFill>
          <a:ln xmlns:a="http://schemas.openxmlformats.org/drawingml/2006/main" w="9525">
            <a:solidFill>
              <a:srgbClr val="F5D49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F33DBDA-E127-4760-897D-236CAB1CE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905250"/>
            <a:ext cx="188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2A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2A93B"/>
                </a:solidFill>
                <a:latin typeface="Microsoft YaHei"/>
                <a:ea typeface="Microsoft YaHei"/>
                <a:cs typeface="Microsoft YaHei"/>
              </a:rPr>
              <a:t>SQLite demo connector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A3E747A-8553-4539-8FB6-E4A2F5416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05300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rPr>
              <a:t>验证业务契约、查询控制流、数据结构和租户组织隔离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C04F8AF-F17D-43B5-A6A1-882653A34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943350"/>
            <a:ext cx="190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E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972E3D1-00FD-4706-A2D8-1D5E87BD2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052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2BB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BB673"/>
                </a:solidFill>
                <a:latin typeface="Microsoft YaHei"/>
                <a:ea typeface="Microsoft YaHei"/>
                <a:cs typeface="Microsoft YaHei"/>
              </a:rPr>
              <a:t>生产切换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BB98616-B7CE-4544-97AF-17B927792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05250"/>
            <a:ext cx="2724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F1"/>
          </a:solidFill>
          <a:ln xmlns:a="http://schemas.openxmlformats.org/drawingml/2006/main" w="9525">
            <a:solidFill>
              <a:srgbClr val="BCE6C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B3DB52D-8D07-4BBE-A0E0-08A0B22B2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90525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2BB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BB673"/>
                </a:solidFill>
                <a:latin typeface="Microsoft YaHei"/>
                <a:ea typeface="Microsoft YaHei"/>
                <a:cs typeface="Microsoft YaHei"/>
              </a:rPr>
              <a:t>Database / SQLAlchemy / HTTP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8FC0ABB-033E-4103-9E90-084EB337F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3053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rPr>
              <a:t>只替换 Connector 配置；Agent、Tool Schema、前端展示契约保持稳定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BEF692C-942F-41CA-A1FD-79F98E703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8204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73B57"/>
          </a:solidFill>
          <a:ln xmlns:a="http://schemas.openxmlformats.org/drawingml/2006/main" w="9525">
            <a:solidFill>
              <a:srgbClr val="173B57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761C989-1223-4C36-B76C-80D4FE6FB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769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所有业务请求强制携带 X-Tenant-Id 与 X-Org-Code；当前不提供采购数据写入、审批或删除 Tool。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33053F9-C20F-46EE-ACC3-1B8FEBF0C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8CA2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CA2B1"/>
                </a:solidFill>
                <a:latin typeface="Microsoft YaHei"/>
                <a:ea typeface="Microsoft YaHei"/>
                <a:cs typeface="Microsoft YaHei"/>
              </a:rPr>
              <a:t>ERP 智能问答与采购分析平台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BDD1D75-854E-4498-A499-B896BCB2E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8652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8CA2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CA2B1"/>
                </a:solidFill>
                <a:latin typeface="Microsoft YaHei"/>
                <a:ea typeface="Microsoft YaHei"/>
                <a:cs typeface="Microsoft YaHei"/>
              </a:rPr>
              <a:t>08 / 16</a:t>
            </a:r>
          </a:p>
        </p:txBody>
      </p:sp>
    </p:spTree>
    <p:extLst>
      <p:ext uri="{BB962C8B-B14F-4D97-AF65-F5344CB8AC3E}">
        <p14:creationId xmlns:p14="http://schemas.microsoft.com/office/powerpoint/2010/main" val="6389199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F2D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0117DBC-E8A8-4288-9F32-8F2FD7E7E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08B4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8B4D8"/>
                </a:solidFill>
                <a:latin typeface="Microsoft YaHei"/>
                <a:ea typeface="Microsoft YaHei"/>
                <a:cs typeface="Microsoft YaHei"/>
              </a:rPr>
              <a:t>08 · 企业知识检索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C4D2BA-523C-4E03-B58F-3CCF125BC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WISE + IMA：有预算的多源证据检索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88007E-34B7-4F97-B317-0F6C32882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28625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1">
                <a:solidFill>
                  <a:srgbClr val="9EC4D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9EC4D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225F15-C77B-4476-96A3-D98F7BC3B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16383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163E59"/>
          </a:solidFill>
          <a:ln xmlns:a="http://schemas.openxmlformats.org/drawingml/2006/main" w="9525">
            <a:solidFill>
              <a:srgbClr val="2E647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FF9B75-0EA5-40A3-9283-65E579026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431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7F8"/>
          </a:solidFill>
          <a:ln xmlns:a="http://schemas.openxmlformats.org/drawingml/2006/main" w="0">
            <a:solidFill>
              <a:srgbClr val="1687F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36E899-929B-491C-BFE8-BE586D4BF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431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8578E4-03F4-43DF-AED1-F8185C732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52700"/>
            <a:ext cx="1409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Plan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0E009E-C70F-4B4B-9C59-D487E3F0C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0035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>
                <a:solidFill>
                  <a:srgbClr val="A9C5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A9C5D4"/>
                </a:solidFill>
                <a:latin typeface="Microsoft YaHei"/>
                <a:ea typeface="Microsoft YaHei"/>
                <a:cs typeface="Microsoft YaHei"/>
              </a:rPr>
              <a:t>最多 2 个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975" b="0">
                <a:solidFill>
                  <a:srgbClr val="A9C5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A9C5D4"/>
                </a:solidFill>
                <a:latin typeface="Microsoft YaHei"/>
                <a:ea typeface="Microsoft YaHei"/>
                <a:cs typeface="Microsoft YaHei"/>
              </a:rPr>
              <a:t>语义子查询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F9FA4D-C79D-49A2-A7D7-7C1162B48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419350"/>
            <a:ext cx="13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AEC8"/>
          </a:solidFill>
          <a:ln xmlns:a="http://schemas.openxmlformats.org/drawingml/2006/main" w="9525">
            <a:solidFill>
              <a:srgbClr val="6EAE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A34457-F077-4F26-84B9-B6DAC7C9C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2860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6EAE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6EAEC8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604267-5C9C-4079-A2A9-022496B4F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771650"/>
            <a:ext cx="16383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163E59"/>
          </a:solidFill>
          <a:ln xmlns:a="http://schemas.openxmlformats.org/drawingml/2006/main" w="9525">
            <a:solidFill>
              <a:srgbClr val="2E647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7035BC-889C-4348-9F45-2D24F184C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9431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4D8"/>
          </a:solidFill>
          <a:ln xmlns:a="http://schemas.openxmlformats.org/drawingml/2006/main" w="0">
            <a:solidFill>
              <a:srgbClr val="08B4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5A9576-7CC2-40AE-990D-2AC114555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9431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B488DA-B364-4725-AF52-62C1BA606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552700"/>
            <a:ext cx="1409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Search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24F926-E778-4466-9270-6C1046D32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80035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>
                <a:solidFill>
                  <a:srgbClr val="A9C5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A9C5D4"/>
                </a:solidFill>
                <a:latin typeface="Microsoft YaHei"/>
                <a:ea typeface="Microsoft YaHei"/>
                <a:cs typeface="Microsoft YaHei"/>
              </a:rPr>
              <a:t>WISE / IMA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975" b="0">
                <a:solidFill>
                  <a:srgbClr val="A9C5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A9C5D4"/>
                </a:solidFill>
                <a:latin typeface="Microsoft YaHei"/>
                <a:ea typeface="Microsoft YaHei"/>
                <a:cs typeface="Microsoft YaHei"/>
              </a:rPr>
              <a:t>并发检索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DBCB93-2C98-48F3-AC73-A211367CE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419350"/>
            <a:ext cx="13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AEC8"/>
          </a:solidFill>
          <a:ln xmlns:a="http://schemas.openxmlformats.org/drawingml/2006/main" w="9525">
            <a:solidFill>
              <a:srgbClr val="6EAE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8F3308-4886-40BD-96FD-0927B2501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860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6EAE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6EAEC8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234425-671D-4196-883A-D37E0CE8E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771650"/>
            <a:ext cx="16383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163E59"/>
          </a:solidFill>
          <a:ln xmlns:a="http://schemas.openxmlformats.org/drawingml/2006/main" w="9525">
            <a:solidFill>
              <a:srgbClr val="2E647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265245-1A82-4247-B68C-3128FAE55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9431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B673"/>
          </a:solidFill>
          <a:ln xmlns:a="http://schemas.openxmlformats.org/drawingml/2006/main" w="0">
            <a:solidFill>
              <a:srgbClr val="2BB67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C976E5-146E-45F3-8F41-2AECB1865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9431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3220A8-9DBB-48A9-8DF9-8FBC225E6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52700"/>
            <a:ext cx="1409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RRF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DAFD43-6B4A-439C-8497-2A743A272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0035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>
                <a:solidFill>
                  <a:srgbClr val="A9C5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A9C5D4"/>
                </a:solidFill>
                <a:latin typeface="Microsoft YaHei"/>
                <a:ea typeface="Microsoft YaHei"/>
                <a:cs typeface="Microsoft YaHei"/>
              </a:rPr>
              <a:t>多源排序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975" b="0">
                <a:solidFill>
                  <a:srgbClr val="A9C5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A9C5D4"/>
                </a:solidFill>
                <a:latin typeface="Microsoft YaHei"/>
                <a:ea typeface="Microsoft YaHei"/>
                <a:cs typeface="Microsoft YaHei"/>
              </a:rPr>
              <a:t>去重融合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9CE9B2-941C-47E5-B54B-EC70703E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19350"/>
            <a:ext cx="13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AEC8"/>
          </a:solidFill>
          <a:ln xmlns:a="http://schemas.openxmlformats.org/drawingml/2006/main" w="9525">
            <a:solidFill>
              <a:srgbClr val="6EAEC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459617-57B3-432A-9868-4C0AE71B4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860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6EAE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6EAEC8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08268D-9739-4820-9CEC-552EBDED3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771650"/>
            <a:ext cx="16383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163E59"/>
          </a:solidFill>
          <a:ln xmlns:a="http://schemas.openxmlformats.org/drawingml/2006/main" w="9525">
            <a:solidFill>
              <a:srgbClr val="2E647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5DD614-1157-41A6-863F-382C809AB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9431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93B"/>
          </a:solidFill>
          <a:ln xmlns:a="http://schemas.openxmlformats.org/drawingml/2006/main" w="0">
            <a:solidFill>
              <a:srgbClr val="F2A93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8EBD9A-0AEB-437F-BB78-11B37993A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9431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DAD211-E1B6-412D-AEA0-CC1022018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552700"/>
            <a:ext cx="1409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Grade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D58C7B-AC5B-4A54-8ADB-F7DE8C732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80035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>
                <a:solidFill>
                  <a:srgbClr val="A9C5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A9C5D4"/>
                </a:solidFill>
                <a:latin typeface="Microsoft YaHei"/>
                <a:ea typeface="Microsoft YaHei"/>
                <a:cs typeface="Microsoft YaHei"/>
              </a:rPr>
              <a:t>证据选择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975" b="0">
                <a:solidFill>
                  <a:srgbClr val="A9C5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A9C5D4"/>
                </a:solidFill>
                <a:latin typeface="Microsoft YaHei"/>
                <a:ea typeface="Microsoft YaHei"/>
                <a:cs typeface="Microsoft YaHei"/>
              </a:rPr>
              <a:t>覆盖评估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5792B6-9F4D-4394-B07A-BD3AEFE46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19350"/>
            <a:ext cx="13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AEC8"/>
          </a:solidFill>
          <a:ln xmlns:a="http://schemas.openxmlformats.org/drawingml/2006/main" w="9525">
            <a:solidFill>
              <a:srgbClr val="6EAEC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AEB1B47-1249-43CF-9BB2-3C66E813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860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6EAE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6EAEC8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221EE17-65F3-47AC-B0C0-CFD20B63E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771650"/>
            <a:ext cx="16383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163E59"/>
          </a:solidFill>
          <a:ln xmlns:a="http://schemas.openxmlformats.org/drawingml/2006/main" w="9525">
            <a:solidFill>
              <a:srgbClr val="2E647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A846DA5-ACE1-4960-A5C9-B28892F98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9431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7F8"/>
          </a:solidFill>
          <a:ln xmlns:a="http://schemas.openxmlformats.org/drawingml/2006/main" w="0">
            <a:solidFill>
              <a:srgbClr val="1687F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63C2151-0B36-4663-A10D-2E339C71E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9431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909F106-C80A-4E06-A16B-388EAC35B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52700"/>
            <a:ext cx="1409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Finalize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203339A-23B7-4F19-B9F2-9BBA31CC3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0035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>
                <a:solidFill>
                  <a:srgbClr val="A9C5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A9C5D4"/>
                </a:solidFill>
                <a:latin typeface="Microsoft YaHei"/>
                <a:ea typeface="Microsoft YaHei"/>
                <a:cs typeface="Microsoft YaHei"/>
              </a:rPr>
              <a:t>完整 / 部分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975" b="0">
                <a:solidFill>
                  <a:srgbClr val="A9C5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A9C5D4"/>
                </a:solidFill>
                <a:latin typeface="Microsoft YaHei"/>
                <a:ea typeface="Microsoft YaHei"/>
                <a:cs typeface="Microsoft YaHei"/>
              </a:rPr>
              <a:t>明确未知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121ADE3-8A29-48F2-B7A5-295F7F2C5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1771650"/>
            <a:ext cx="1295400" cy="135255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3A2E2F"/>
          </a:solidFill>
          <a:ln xmlns:a="http://schemas.openxmlformats.org/drawingml/2006/main" w="9525">
            <a:solidFill>
              <a:srgbClr val="7B555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A02984D-C692-472E-AD60-B4FA1AB14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943100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FD6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D6D6"/>
                </a:solidFill>
                <a:latin typeface="Microsoft YaHei"/>
                <a:ea typeface="Microsoft YaHei"/>
                <a:cs typeface="Microsoft YaHei"/>
              </a:rPr>
              <a:t>Rewrite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14E0074-BDC9-4A76-A9FB-9CC064384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247900"/>
            <a:ext cx="1066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>
                <a:solidFill>
                  <a:srgbClr val="D6B7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D6B7B7"/>
                </a:solidFill>
                <a:latin typeface="Microsoft YaHei"/>
                <a:ea typeface="Microsoft YaHei"/>
                <a:cs typeface="Microsoft YaHei"/>
              </a:rPr>
              <a:t>改写查询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975" b="0">
                <a:solidFill>
                  <a:srgbClr val="D6B7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D6B7B7"/>
                </a:solidFill>
                <a:latin typeface="Microsoft YaHei"/>
                <a:ea typeface="Microsoft YaHei"/>
                <a:cs typeface="Microsoft YaHei"/>
              </a:rPr>
              <a:t>返回 Search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975" b="0">
                <a:solidFill>
                  <a:srgbClr val="D6B7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D6B7B7"/>
                </a:solidFill>
                <a:latin typeface="Microsoft YaHei"/>
                <a:ea typeface="Microsoft YaHei"/>
                <a:cs typeface="Microsoft YaHei"/>
              </a:rPr>
              <a:t>最多 2 轮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D41B4D1-8D50-4527-9A58-D1AFDF179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2420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3B"/>
          </a:solidFill>
          <a:ln xmlns:a="http://schemas.openxmlformats.org/drawingml/2006/main" w="9525">
            <a:solidFill>
              <a:srgbClr val="F2A93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A450076-2F91-4910-8025-8F4919C29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5052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F2A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2A93B"/>
                </a:solidFill>
                <a:latin typeface="Microsoft YaHei"/>
                <a:ea typeface="Microsoft YaHei"/>
                <a:cs typeface="Microsoft YaHei"/>
              </a:rPr>
              <a:t>⌄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54933BF-6B81-4CFC-BAC6-8E70A742D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8612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rPr>
              <a:t>无相关证据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95DC10B-4A16-45F7-B68E-37E366629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95700"/>
            <a:ext cx="3409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3B"/>
          </a:solidFill>
          <a:ln xmlns:a="http://schemas.openxmlformats.org/drawingml/2006/main" w="9525">
            <a:solidFill>
              <a:srgbClr val="F2A93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7719186-FF18-4D86-9F93-8ECE556AA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5623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F2A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2A93B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FA2F667-5859-4A37-B9AC-60AE2F505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162300"/>
            <a:ext cx="38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3B"/>
          </a:solidFill>
          <a:ln xmlns:a="http://schemas.openxmlformats.org/drawingml/2006/main" w="9525">
            <a:solidFill>
              <a:srgbClr val="F2A93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ED2C5D8-951C-49C8-B84C-F4DDBBE51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31051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F2A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2A93B"/>
                </a:solidFill>
                <a:latin typeface="Microsoft YaHei"/>
                <a:ea typeface="Microsoft YaHei"/>
                <a:cs typeface="Microsoft YaHei"/>
              </a:rPr>
              <a:t>⌃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DF2F36C-1F7D-4E02-9ECD-3F4C61600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8204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132F43"/>
          </a:solidFill>
          <a:ln xmlns:a="http://schemas.openxmlformats.org/drawingml/2006/main" w="9525">
            <a:solidFill>
              <a:srgbClr val="31536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7137B44-4977-4D4C-99DE-34CB2CDC7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57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7F8"/>
          </a:solidFill>
          <a:ln xmlns:a="http://schemas.openxmlformats.org/drawingml/2006/main" w="0">
            <a:solidFill>
              <a:srgbClr val="1687F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972D3B1-56B3-4AF4-A9BB-A3CDA9F41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576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4870913-6765-4AE0-BA51-BCA60A778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91000"/>
            <a:ext cx="1847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企业优先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D7A4980-4285-4F87-97B8-BC373B34F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14850"/>
            <a:ext cx="1847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A8C2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8C2D1"/>
                </a:solidFill>
                <a:latin typeface="Microsoft YaHei"/>
                <a:ea typeface="Microsoft YaHei"/>
                <a:cs typeface="Microsoft YaHei"/>
              </a:rPr>
              <a:t>WISE 是内部权威来源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39C35BF-E543-48E6-AFD3-73BF23C71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257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4D8"/>
          </a:solidFill>
          <a:ln xmlns:a="http://schemas.openxmlformats.org/drawingml/2006/main" w="0">
            <a:solidFill>
              <a:srgbClr val="08B4D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BBA1D47-5F04-4236-BFDD-F4C111B3A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2576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CD662CE-5E67-4513-913B-E9212734D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191000"/>
            <a:ext cx="1847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补充而非替代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FFC0F5E-A260-4769-8789-33F702937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514850"/>
            <a:ext cx="1847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A8C2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8C2D1"/>
                </a:solidFill>
                <a:latin typeface="Microsoft YaHei"/>
                <a:ea typeface="Microsoft YaHei"/>
                <a:cs typeface="Microsoft YaHei"/>
              </a:rPr>
              <a:t>IMA 提供通用补充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DF426FE-C527-4520-AB5D-6065FE87A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257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93B"/>
          </a:solidFill>
          <a:ln xmlns:a="http://schemas.openxmlformats.org/drawingml/2006/main" w="0">
            <a:solidFill>
              <a:srgbClr val="F2A93B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315D05B-A28E-4C7A-86AE-605A087B3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2576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C662096-E38D-4899-BF1B-8181C2511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191000"/>
            <a:ext cx="1847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冲突可控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2C626F6-2BD1-432A-A1A0-A11E455A8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514850"/>
            <a:ext cx="1847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A8C2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8C2D1"/>
                </a:solidFill>
                <a:latin typeface="Microsoft YaHei"/>
                <a:ea typeface="Microsoft YaHei"/>
                <a:cs typeface="Microsoft YaHei"/>
              </a:rPr>
              <a:t>来源冲突时企业证据优先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83FB7A6-0EFF-49A7-A674-2098DFB61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257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B673"/>
          </a:solidFill>
          <a:ln xmlns:a="http://schemas.openxmlformats.org/drawingml/2006/main" w="0">
            <a:solidFill>
              <a:srgbClr val="2BB673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11980F4-3D01-426B-972C-A850175AA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2576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AC2C76F-3469-4D8B-8052-5697F7653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191000"/>
            <a:ext cx="1847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失败可降级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E0D8F3B-7AFA-410B-A4AF-E8B3CF219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514850"/>
            <a:ext cx="1847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A8C2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8C2D1"/>
                </a:solidFill>
                <a:latin typeface="Microsoft YaHei"/>
                <a:ea typeface="Microsoft YaHei"/>
                <a:cs typeface="Microsoft YaHei"/>
              </a:rPr>
              <a:t>IMA 配额异常仍可用 WISE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1CCB28A-1D5E-43B5-A0D4-33753717F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A7D9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A7D9ED"/>
                </a:solidFill>
                <a:latin typeface="Microsoft YaHei"/>
                <a:ea typeface="Microsoft YaHei"/>
                <a:cs typeface="Microsoft YaHei"/>
              </a:rPr>
              <a:t>优化后知识问答约 11–13 秒；仍保留最多 2 轮检索与证据评级。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0749993-2144-4896-9887-01F04FE7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88A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8A8BC"/>
                </a:solidFill>
                <a:latin typeface="Microsoft YaHei"/>
                <a:ea typeface="Microsoft YaHei"/>
                <a:cs typeface="Microsoft YaHei"/>
              </a:rPr>
              <a:t>ERP 智能问答与采购分析平台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8041DAF-DC12-4A05-B300-135A649AB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8652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88A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8A8BC"/>
                </a:solidFill>
                <a:latin typeface="Microsoft YaHei"/>
                <a:ea typeface="Microsoft YaHei"/>
                <a:cs typeface="Microsoft YaHei"/>
              </a:rPr>
              <a:t>09 / 16</a:t>
            </a:r>
          </a:p>
        </p:txBody>
      </p:sp>
    </p:spTree>
    <p:extLst>
      <p:ext uri="{BB962C8B-B14F-4D97-AF65-F5344CB8AC3E}">
        <p14:creationId xmlns:p14="http://schemas.microsoft.com/office/powerpoint/2010/main" val="11807363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22AF74-5633-45B6-A7EB-0148C9A2E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687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7F8"/>
                </a:solidFill>
                <a:latin typeface="Microsoft YaHei"/>
                <a:ea typeface="Microsoft YaHei"/>
                <a:cs typeface="Microsoft YaHei"/>
              </a:rPr>
              <a:t>09 · 产品呈现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4AF199-74A6-4106-9E05-2A8077CF6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rPr>
              <a:t>经营分析：从底层数据到管理决策界面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2C085E-7C04-4994-A2DE-09518F8E9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B0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AB0BF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C41CFD-020B-4E07-A0AF-AB3E99681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E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707666-97BA-4373-B194-6343B15B0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7086600" cy="4400550"/>
          </a:xfrm>
          <a:prstGeom xmlns:a="http://schemas.openxmlformats.org/drawingml/2006/main" prst="roundRect">
            <a:avLst>
              <a:gd name="adj" fmla="val 25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5da781c9e64de8"/>
          <a:srcRect xmlns:a="http://schemas.openxmlformats.org/drawingml/2006/main" l="3931" t="0" r="393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" y="1533525"/>
            <a:ext cx="6896100" cy="4210050"/>
          </a:xfrm>
          <a:prstGeom xmlns:a="http://schemas.openxmlformats.org/drawingml/2006/main" prst="roundRect">
            <a:avLst>
              <a:gd name="adj" fmla="val 2715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D38D42-0BE2-4F12-94C1-8F024E70E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562100"/>
            <a:ext cx="34290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032D84-82AB-4595-AFBD-CF56B399A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562100"/>
            <a:ext cx="66675" cy="876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7F8"/>
          </a:solidFill>
          <a:ln xmlns:a="http://schemas.openxmlformats.org/drawingml/2006/main" w="9525">
            <a:solidFill>
              <a:srgbClr val="1687F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2A6A51-DDCF-4A9A-A5CE-4D38147F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764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rPr>
              <a:t>4 个核心指标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95EA8E-FD00-45E2-8A2C-CC8D1CB69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97167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rPr>
              <a:t>金额、订单量、均单价、按期交付率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CB29B9-4F1E-4221-AD80-4ABD5020B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90800"/>
            <a:ext cx="34290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F488AC-35DA-4AF0-9273-1ED72CB98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90800"/>
            <a:ext cx="66675" cy="876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B4D8"/>
          </a:solidFill>
          <a:ln xmlns:a="http://schemas.openxmlformats.org/drawingml/2006/main" w="9525">
            <a:solidFill>
              <a:srgbClr val="08B4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2F16B6-90EF-4180-BC8B-B94186DEF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051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rPr>
              <a:t>2 类业务图表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B058A6-1F07-4F99-951F-FBC66450C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0037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rPr>
              <a:t>趋势 + 品类构成，ECharts 直观呈现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D5176F-3DFE-4B16-A289-6322BC77B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619500"/>
            <a:ext cx="34290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97EB24-FEC9-49C1-8703-4219D7D6D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619500"/>
            <a:ext cx="66675" cy="876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B673"/>
          </a:solidFill>
          <a:ln xmlns:a="http://schemas.openxmlformats.org/drawingml/2006/main" w="9525">
            <a:solidFill>
              <a:srgbClr val="2BB67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F6D9AB-D868-4DB6-83B2-BB9A6737C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7338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rPr>
              <a:t>结论可执行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FD1C75-E979-4FA5-AAB4-A2C701E5D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2907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rPr>
              <a:t>分析洞察、建议动作、口径说明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171C93-EFB6-4CE0-92B6-24F85E36A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648200"/>
            <a:ext cx="34290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C1CFB5-A49F-4BE6-82DB-C0FA0EE67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648200"/>
            <a:ext cx="66675" cy="876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A93B"/>
          </a:solidFill>
          <a:ln xmlns:a="http://schemas.openxmlformats.org/drawingml/2006/main" w="9525">
            <a:solidFill>
              <a:srgbClr val="F2A93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C4A4A1-A136-49DB-B4A4-E9C367A26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7625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rPr>
              <a:t>界面去技术化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C15E4C-6D08-4CDF-9F66-D3283163F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05777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rPr>
              <a:t>不暴露代码、Mock、版本与 Tool envelope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0FC69D-627E-4EDD-B696-C5478E604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810250"/>
            <a:ext cx="3448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B57"/>
          </a:solidFill>
          <a:ln xmlns:a="http://schemas.openxmlformats.org/drawingml/2006/main" w="9525">
            <a:solidFill>
              <a:srgbClr val="173B5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846AD9-25EE-43BC-82A0-386754012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8102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真实业务数据 → 指标 → 图表 → 洞察 → 建议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DFB4AC-862C-4549-8E61-DEB5A7992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8CA2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CA2B1"/>
                </a:solidFill>
                <a:latin typeface="Microsoft YaHei"/>
                <a:ea typeface="Microsoft YaHei"/>
                <a:cs typeface="Microsoft YaHei"/>
              </a:rPr>
              <a:t>ERP 智能问答与采购分析平台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CB0CEA-BC63-473C-A937-44E76403A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8652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8CA2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CA2B1"/>
                </a:solidFill>
                <a:latin typeface="Microsoft YaHei"/>
                <a:ea typeface="Microsoft YaHei"/>
                <a:cs typeface="Microsoft YaHei"/>
              </a:rPr>
              <a:t>10 / 16</a:t>
            </a:r>
          </a:p>
        </p:txBody>
      </p:sp>
    </p:spTree>
    <p:extLst>
      <p:ext uri="{BB962C8B-B14F-4D97-AF65-F5344CB8AC3E}">
        <p14:creationId xmlns:p14="http://schemas.microsoft.com/office/powerpoint/2010/main" val="109443815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CAE2848-E8A1-4EF2-9CFA-243AA320C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687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7F8"/>
                </a:solidFill>
                <a:latin typeface="Microsoft YaHei"/>
                <a:ea typeface="Microsoft YaHei"/>
                <a:cs typeface="Microsoft YaHei"/>
              </a:rPr>
              <a:t>10 · 会话与来源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3EC2D0-7039-4E91-80AE-F28B791F3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rPr>
              <a:t>会话设计：一个历史项对应一个完整对话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F13F75-AF4A-400B-A029-D8EF4B5DE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B0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AB0BF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7FF240-4949-49C0-9C94-801AA3104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E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2D1A64-0DB0-492D-995D-63F7591E2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3238500" cy="43434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0F2D44"/>
          </a:solidFill>
          <a:ln xmlns:a="http://schemas.openxmlformats.org/drawingml/2006/main" w="9525">
            <a:solidFill>
              <a:srgbClr val="0F2D4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D2F66D-DD05-4689-81E3-8FCA72E38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764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最近对话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068FB8-B1DA-4042-B0E2-FD69F7686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2857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224E69"/>
          </a:solidFill>
          <a:ln xmlns:a="http://schemas.openxmlformats.org/drawingml/2006/main" w="9525">
            <a:solidFill>
              <a:srgbClr val="3D779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3EACC2-2287-4DC7-8E26-2231A9806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57425"/>
            <a:ext cx="2114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供应商准入流程需要提交哪些资料？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D12C07-15A9-44ED-9B3D-BE27CD140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384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95B5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5B5C8"/>
                </a:solidFill>
                <a:latin typeface="Microsoft YaHei"/>
                <a:ea typeface="Microsoft YaHei"/>
                <a:cs typeface="Microsoft YaHei"/>
              </a:rPr>
              <a:t>3 轮 · 11:52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3D781B-6912-49CC-B040-7326206B0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3622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A8C6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A8C6D6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C852EB-D0C0-434A-BA9F-94848155B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2857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7384F"/>
          </a:solidFill>
          <a:ln xmlns:a="http://schemas.openxmlformats.org/drawingml/2006/main" w="9525">
            <a:solidFill>
              <a:srgbClr val="294D6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0F3E06-97CA-4384-B0D0-9B9F63FD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48025"/>
            <a:ext cx="2114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本季度采购经营概览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3BD0FE-8EEC-4172-9575-AB93AD0EE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290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95B5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5B5C8"/>
                </a:solidFill>
                <a:latin typeface="Microsoft YaHei"/>
                <a:ea typeface="Microsoft YaHei"/>
                <a:cs typeface="Microsoft YaHei"/>
              </a:rPr>
              <a:t>1 轮 · 13:18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45BDD8-BC34-4DD3-9630-EC11C5BDE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3528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A8C6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A8C6D6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5EE412-E5CF-4AED-81B1-67DD52EDF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52900"/>
            <a:ext cx="2857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7384F"/>
          </a:solidFill>
          <a:ln xmlns:a="http://schemas.openxmlformats.org/drawingml/2006/main" w="9525">
            <a:solidFill>
              <a:srgbClr val="294D6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A77D7F-BD05-452E-BB8C-C70E9159D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38625"/>
            <a:ext cx="2114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哪些订单还没有入库？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E87FDE-12E9-470E-81EF-B4C1C80CA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196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95B5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5B5C8"/>
                </a:solidFill>
                <a:latin typeface="Microsoft YaHei"/>
                <a:ea typeface="Microsoft YaHei"/>
                <a:cs typeface="Microsoft YaHei"/>
              </a:rPr>
              <a:t>2 轮 · 昨天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35EA81-0232-4D76-9C09-F57CD6E05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3434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A8C6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A8C6D6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350D71-4A3D-40E4-B815-4CB890650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19700"/>
            <a:ext cx="2857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4566F"/>
          </a:solidFill>
          <a:ln xmlns:a="http://schemas.openxmlformats.org/drawingml/2006/main" w="9525">
            <a:solidFill>
              <a:srgbClr val="3C728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0748FC-E189-4556-8A89-2C0B7AF92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578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BEE8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EE8F2"/>
                </a:solidFill>
                <a:latin typeface="Microsoft YaHei"/>
                <a:ea typeface="Microsoft YaHei"/>
                <a:cs typeface="Microsoft YaHei"/>
              </a:rPr>
              <a:t>常用问题始终固定在输入区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8AB2EA-4DD0-4800-A353-7DD814677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600200"/>
            <a:ext cx="29337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BFD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972E0A-3F46-4F3E-9024-994B0FB18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7526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687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87F8"/>
                </a:solidFill>
                <a:latin typeface="Microsoft YaHei"/>
                <a:ea typeface="Microsoft YaHei"/>
                <a:cs typeface="Microsoft YaHei"/>
              </a:rPr>
              <a:t>Conversation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16B48F-5ABC-4230-8D0D-752A6DB45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171700"/>
            <a:ext cx="247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rPr>
              <a:t>一个对话窗口 / 一个 sidebar item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rPr>
              <a:t>session_id · title · identity scope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5BCEDA-B1D1-44CB-BE8D-554C8C511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990850"/>
            <a:ext cx="38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F8"/>
          </a:solidFill>
          <a:ln xmlns:a="http://schemas.openxmlformats.org/drawingml/2006/main" w="9525">
            <a:solidFill>
              <a:srgbClr val="1687F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E46EFA-2D53-4FF2-9135-5A0846A7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3147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1687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87F8"/>
                </a:solidFill>
                <a:latin typeface="Microsoft YaHei"/>
                <a:ea typeface="Microsoft YaHei"/>
                <a:cs typeface="Microsoft YaHei"/>
              </a:rPr>
              <a:t>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7BC570-8432-4084-9145-BDAEB05A0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1242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rPr>
              <a:t>1 : 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927052-1474-4226-B45E-7F56F4B53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600450"/>
            <a:ext cx="29337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4E3FD0-7BFA-480C-BC5A-E6F3C7A4D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7528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2BB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B673"/>
                </a:solidFill>
                <a:latin typeface="Microsoft YaHei"/>
                <a:ea typeface="Microsoft YaHei"/>
                <a:cs typeface="Microsoft YaHei"/>
              </a:rPr>
              <a:t>Interaction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CCDB60-1D5A-42A8-9AB3-E21383E0A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171950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rPr>
              <a:t>每轮问题 + 回答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rPr>
              <a:t>按时间恢复完整历史消息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312B6D-E39B-4D0E-AE92-383BBC03E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314825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B4D8"/>
          </a:solidFill>
          <a:ln xmlns:a="http://schemas.openxmlformats.org/drawingml/2006/main" w="9525">
            <a:solidFill>
              <a:srgbClr val="08B4D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6D6E61-4D30-42E2-A23D-9E03A3C68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1814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08B4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8B4D8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E4DC604-6C41-4143-8B3C-B81EB7898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600450"/>
            <a:ext cx="31432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E8F9FC"/>
          </a:solidFill>
          <a:ln xmlns:a="http://schemas.openxmlformats.org/drawingml/2006/main" w="9525">
            <a:solidFill>
              <a:srgbClr val="B9E7F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4164F72-CD4F-4FB0-AFD7-F0333F695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752850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08B4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B4D8"/>
                </a:solidFill>
                <a:latin typeface="Microsoft YaHei"/>
                <a:ea typeface="Microsoft YaHei"/>
                <a:cs typeface="Microsoft YaHei"/>
              </a:rPr>
              <a:t>SourceEvidence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F82ACF9-C916-4C55-B417-745682EC8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171950"/>
            <a:ext cx="2686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rPr>
              <a:t>默认只展示文档标题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rPr>
              <a:t>点击 / hover 后展开片段与链接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D9C2214-ED20-4590-AE63-FDBAD9B3E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314950"/>
            <a:ext cx="70104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73B57"/>
          </a:solidFill>
          <a:ln xmlns:a="http://schemas.openxmlformats.org/drawingml/2006/main" w="9525">
            <a:solidFill>
              <a:srgbClr val="173B5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24A320F-093A-4363-A6B8-EE4BDC13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353050"/>
            <a:ext cx="666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列表、详情、删除均校验 user_id + tenant_id + org_code；localStorage 不是权限凭证。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B043956-6EFE-4343-9B92-E00C783A7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8CA2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CA2B1"/>
                </a:solidFill>
                <a:latin typeface="Microsoft YaHei"/>
                <a:ea typeface="Microsoft YaHei"/>
                <a:cs typeface="Microsoft YaHei"/>
              </a:rPr>
              <a:t>ERP 智能问答与采购分析平台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8A71A91-E069-4D5B-8051-629BC906F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8652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8CA2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CA2B1"/>
                </a:solidFill>
                <a:latin typeface="Microsoft YaHei"/>
                <a:ea typeface="Microsoft YaHei"/>
                <a:cs typeface="Microsoft YaHei"/>
              </a:rPr>
              <a:t>11 / 16</a:t>
            </a:r>
          </a:p>
        </p:txBody>
      </p:sp>
    </p:spTree>
    <p:extLst>
      <p:ext uri="{BB962C8B-B14F-4D97-AF65-F5344CB8AC3E}">
        <p14:creationId xmlns:p14="http://schemas.microsoft.com/office/powerpoint/2010/main" val="159003589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F2D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464F727-7DC6-40EF-8FA3-DD009DA73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08B4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8B4D8"/>
                </a:solidFill>
                <a:latin typeface="Microsoft YaHei"/>
                <a:ea typeface="Microsoft YaHei"/>
                <a:cs typeface="Microsoft YaHei"/>
              </a:rPr>
              <a:t>11 · 身份与权限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323F6B-F942-4ACA-A98C-91FA95846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纵深权限隔离：不是隐藏按钮，而是多边界校验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BFD0D3-0F2F-45CC-9CAB-412667F45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28625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1">
                <a:solidFill>
                  <a:srgbClr val="9EC4D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9EC4D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32EA8B-D23C-4867-8082-770427155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04950"/>
            <a:ext cx="105918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63B54"/>
          </a:solidFill>
          <a:ln xmlns:a="http://schemas.openxmlformats.org/drawingml/2006/main" w="9525">
            <a:solidFill>
              <a:srgbClr val="1687F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00F792-3AF1-4647-9301-75578070E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192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7F8"/>
          </a:solidFill>
          <a:ln xmlns:a="http://schemas.openxmlformats.org/drawingml/2006/main" w="0">
            <a:solidFill>
              <a:srgbClr val="1687F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D5056B-7E7E-47C7-9808-71C963C03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192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5B2831-C0F6-47AD-9F4B-8D0297C7F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552575"/>
            <a:ext cx="4448556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HTTP 身份边界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6B116E-688D-4A9F-BEA6-E0E0A1FCD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2328" y="1552575"/>
            <a:ext cx="529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A9C5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9C5D4"/>
                </a:solidFill>
                <a:latin typeface="Microsoft YaHei"/>
                <a:ea typeface="Microsoft YaHei"/>
                <a:cs typeface="Microsoft YaHei"/>
              </a:rPr>
              <a:t>Development / JWT Provider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E7850B-0E35-47C1-9394-08C120928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324100"/>
            <a:ext cx="90297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63B54"/>
          </a:solidFill>
          <a:ln xmlns:a="http://schemas.openxmlformats.org/drawingml/2006/main" w="9525">
            <a:solidFill>
              <a:srgbClr val="08B4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703A86-3B33-4EF7-898F-D553809E8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4384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4D8"/>
          </a:solidFill>
          <a:ln xmlns:a="http://schemas.openxmlformats.org/drawingml/2006/main" w="0">
            <a:solidFill>
              <a:srgbClr val="08B4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E13D23-E86D-481B-9916-6B6B48984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4384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402AEB-5124-4206-A4F6-303A3C3E5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371725"/>
            <a:ext cx="3792474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API / Repository 边界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AF68EB-47FF-45F4-B3A7-1A92362D1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812" y="2371725"/>
            <a:ext cx="451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A9C5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9C5D4"/>
                </a:solidFill>
                <a:latin typeface="Microsoft YaHei"/>
                <a:ea typeface="Microsoft YaHei"/>
                <a:cs typeface="Microsoft YaHei"/>
              </a:rPr>
              <a:t>User + Tenant + Org + Roles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A7F057-D5C0-4DFF-AFDC-C9775602B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143250"/>
            <a:ext cx="74676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63B54"/>
          </a:solidFill>
          <a:ln xmlns:a="http://schemas.openxmlformats.org/drawingml/2006/main" w="9525">
            <a:solidFill>
              <a:srgbClr val="2BB67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CB2921-694C-4E93-A0FB-B137E1051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2575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B673"/>
          </a:solidFill>
          <a:ln xmlns:a="http://schemas.openxmlformats.org/drawingml/2006/main" w="0">
            <a:solidFill>
              <a:srgbClr val="2BB67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644209-BC50-4062-9F36-742994A71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2575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E6D149-7156-48C1-9EC4-E17FF438F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90875"/>
            <a:ext cx="3136392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Harness 策略边界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A49C0D-642B-4D9A-B2EE-EAE216E86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296" y="3190875"/>
            <a:ext cx="3733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A9C5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9C5D4"/>
                </a:solidFill>
                <a:latin typeface="Microsoft YaHei"/>
                <a:ea typeface="Microsoft YaHei"/>
                <a:cs typeface="Microsoft YaHei"/>
              </a:rPr>
              <a:t>Tool 白名单 · Risk · Health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D36261-D881-4D5D-B86C-8EE1EB617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962400"/>
            <a:ext cx="59055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63B54"/>
          </a:solidFill>
          <a:ln xmlns:a="http://schemas.openxmlformats.org/drawingml/2006/main" w="9525">
            <a:solidFill>
              <a:srgbClr val="F2A93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39883E-53C5-4DD3-BE8E-AC8BE1C01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0767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93B"/>
          </a:solidFill>
          <a:ln xmlns:a="http://schemas.openxmlformats.org/drawingml/2006/main" w="0">
            <a:solidFill>
              <a:srgbClr val="F2A93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86C178-DCB9-432C-BFBA-461F06D04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0767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25B753-D5AC-4D5D-8A70-316C0BB0C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010025"/>
            <a:ext cx="248031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数据服务边界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F536EE-BE39-4C13-AC63-FFF77262B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9780" y="401002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A9C5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9C5D4"/>
                </a:solidFill>
                <a:latin typeface="Microsoft YaHei"/>
                <a:ea typeface="Microsoft YaHei"/>
                <a:cs typeface="Microsoft YaHei"/>
              </a:rPr>
              <a:t>服务端再次强制 Tenant / Org 过滤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480992-8947-4F3B-9795-8DD4087EF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781550"/>
            <a:ext cx="43434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63B54"/>
          </a:solidFill>
          <a:ln xmlns:a="http://schemas.openxmlformats.org/drawingml/2006/main" w="9525">
            <a:solidFill>
              <a:srgbClr val="E55E5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7564BC-0E25-4354-BA8F-A5E7EDC0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8958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5E5E"/>
          </a:solidFill>
          <a:ln xmlns:a="http://schemas.openxmlformats.org/drawingml/2006/main" w="0">
            <a:solidFill>
              <a:srgbClr val="E55E5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76B3FA-C380-4CCB-A2E3-FE79EB8AC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8958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4FD3B1-1E9D-41B7-9C28-471550AD9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829175"/>
            <a:ext cx="182422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业务事实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E0842D-DB90-47E5-8D87-6EB54D04D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2264" y="4829175"/>
            <a:ext cx="217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A9C5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9C5D4"/>
                </a:solidFill>
                <a:latin typeface="Microsoft YaHei"/>
                <a:ea typeface="Microsoft YaHei"/>
                <a:cs typeface="Microsoft YaHei"/>
              </a:rPr>
              <a:t>仅返回当前身份可见数据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72B044-7DD2-4497-BE7E-25DCD5B16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857875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E57"/>
          </a:solidFill>
          <a:ln xmlns:a="http://schemas.openxmlformats.org/drawingml/2006/main" w="9525">
            <a:solidFill>
              <a:srgbClr val="315F7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615E2E-BB13-4B5D-B879-71C3F73B9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857875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8EDD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8EDDF0"/>
                </a:solidFill>
                <a:latin typeface="Microsoft YaHei"/>
                <a:ea typeface="Microsoft YaHei"/>
                <a:cs typeface="Microsoft YaHei"/>
              </a:rPr>
              <a:t>会话隔离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CD0F2F-3D66-4091-A4BF-7FFEEFA72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857875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E57"/>
          </a:solidFill>
          <a:ln xmlns:a="http://schemas.openxmlformats.org/drawingml/2006/main" w="9525">
            <a:solidFill>
              <a:srgbClr val="315F7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B8717C-6F13-4C8B-9EF4-CE73E0800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857875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8EDD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8EDDF0"/>
                </a:solidFill>
                <a:latin typeface="Microsoft YaHei"/>
                <a:ea typeface="Microsoft YaHei"/>
                <a:cs typeface="Microsoft YaHei"/>
              </a:rPr>
              <a:t>Tool 隔离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770511C-633A-4F19-9F1B-259FF10DF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857875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E57"/>
          </a:solidFill>
          <a:ln xmlns:a="http://schemas.openxmlformats.org/drawingml/2006/main" w="9525">
            <a:solidFill>
              <a:srgbClr val="315F7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45ED4D0-AED3-4B60-82AA-5133BB48B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857875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8EDD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8EDDF0"/>
                </a:solidFill>
                <a:latin typeface="Microsoft YaHei"/>
                <a:ea typeface="Microsoft YaHei"/>
                <a:cs typeface="Microsoft YaHei"/>
              </a:rPr>
              <a:t>数据隔离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F01B2F3-4CF2-4E5A-8975-6F6E5CC13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857875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E57"/>
          </a:solidFill>
          <a:ln xmlns:a="http://schemas.openxmlformats.org/drawingml/2006/main" w="9525">
            <a:solidFill>
              <a:srgbClr val="315F7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B53965-095D-4F76-9271-0C96D564F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857875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8EDD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8EDDF0"/>
                </a:solidFill>
                <a:latin typeface="Microsoft YaHei"/>
                <a:ea typeface="Microsoft YaHei"/>
                <a:cs typeface="Microsoft YaHei"/>
              </a:rPr>
              <a:t>知识隔离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5FBBE00-BFE5-40E3-97E2-625D8E00A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857875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E57"/>
          </a:solidFill>
          <a:ln xmlns:a="http://schemas.openxmlformats.org/drawingml/2006/main" w="9525">
            <a:solidFill>
              <a:srgbClr val="315F7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1061152-D0F9-451A-87AA-FD7D9268A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857875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8EDD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8EDDF0"/>
                </a:solidFill>
                <a:latin typeface="Microsoft YaHei"/>
                <a:ea typeface="Microsoft YaHei"/>
                <a:cs typeface="Microsoft YaHei"/>
              </a:rPr>
              <a:t>审计追溯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F92D4C4-9C5B-4E48-B7E9-CDB3847FC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88A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8A8BC"/>
                </a:solidFill>
                <a:latin typeface="Microsoft YaHei"/>
                <a:ea typeface="Microsoft YaHei"/>
                <a:cs typeface="Microsoft YaHei"/>
              </a:rPr>
              <a:t>ERP 智能问答与采购分析平台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F0FF888-96A9-494B-A7E1-1B167B247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8652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88A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8A8BC"/>
                </a:solidFill>
                <a:latin typeface="Microsoft YaHei"/>
                <a:ea typeface="Microsoft YaHei"/>
                <a:cs typeface="Microsoft YaHei"/>
              </a:rPr>
              <a:t>12 / 16</a:t>
            </a:r>
          </a:p>
        </p:txBody>
      </p:sp>
    </p:spTree>
    <p:extLst>
      <p:ext uri="{BB962C8B-B14F-4D97-AF65-F5344CB8AC3E}">
        <p14:creationId xmlns:p14="http://schemas.microsoft.com/office/powerpoint/2010/main" val="182443978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ACBE0F4-C19D-40A4-B31F-4C453B24C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687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7F8"/>
                </a:solidFill>
                <a:latin typeface="Microsoft YaHei"/>
                <a:ea typeface="Microsoft YaHei"/>
                <a:cs typeface="Microsoft YaHei"/>
              </a:rPr>
              <a:t>12 · 持久化模型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0DDC8F-BE54-4568-B762-8BE242ADE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rPr>
              <a:t>平台数据库：19 张业务表，支撑会话、证据与治理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F108C1-F04A-4CF8-A036-7F8E3C355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B0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AB0BF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E2D331-AFA2-4440-8C8E-53CCCC5AF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E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C91328-27D8-4E0D-B335-BD7775D8D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333375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0CE7AA-D681-42E8-A17B-05EF62660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3333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7F8"/>
          </a:solidFill>
          <a:ln xmlns:a="http://schemas.openxmlformats.org/drawingml/2006/main" w="9525">
            <a:solidFill>
              <a:srgbClr val="1687F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51165A-3FBC-4CC6-AEDF-500D38F4B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335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7F8"/>
          </a:solidFill>
          <a:ln xmlns:a="http://schemas.openxmlformats.org/drawingml/2006/main" w="0">
            <a:solidFill>
              <a:srgbClr val="1687F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085454-B466-415E-95B0-8609D1031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335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AAAC62-F00D-411B-AC06-AB03177BF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71450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rPr>
              <a:t>会话与上下文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D52E34-BEAA-499B-8D58-4BB80F5AC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28765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125" b="0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rPr>
              <a:t>conversations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125" b="0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rPr>
              <a:t>interactions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125" b="0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rPr>
              <a:t>pending_agent_tasks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9737BF-2984-440A-A237-66DD28086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504950"/>
            <a:ext cx="333375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F7E0ED-5F0C-4FFC-BE07-9A2C9DE52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504950"/>
            <a:ext cx="3333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B4D8"/>
          </a:solidFill>
          <a:ln xmlns:a="http://schemas.openxmlformats.org/drawingml/2006/main" w="9525">
            <a:solidFill>
              <a:srgbClr val="08B4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DB4789-5AE0-4F5C-AE03-9DEF6EC0F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335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4D8"/>
          </a:solidFill>
          <a:ln xmlns:a="http://schemas.openxmlformats.org/drawingml/2006/main" w="0">
            <a:solidFill>
              <a:srgbClr val="08B4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220BAE-6F4F-4740-9AAD-CD062EACB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335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A9F0C0-48D0-40EC-B68A-379FB1150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71450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rPr>
              <a:t>证据与反馈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E5C58C-2CCA-4AA8-BB0C-978564E2D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47900"/>
            <a:ext cx="28765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125" b="0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rPr>
              <a:t>source_evidence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125" b="0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rPr>
              <a:t>answer_feedback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0EC61E-ED8F-4847-9D67-9BFD108E5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504950"/>
            <a:ext cx="333375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FA7E4C-E8B2-43EA-BB93-BC925AAA2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504950"/>
            <a:ext cx="3333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B673"/>
          </a:solidFill>
          <a:ln xmlns:a="http://schemas.openxmlformats.org/drawingml/2006/main" w="9525">
            <a:solidFill>
              <a:srgbClr val="2BB67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E81453-2C6D-453B-9DC1-B90DAC04E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335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B673"/>
          </a:solidFill>
          <a:ln xmlns:a="http://schemas.openxmlformats.org/drawingml/2006/main" w="0">
            <a:solidFill>
              <a:srgbClr val="2BB67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929170-825D-4A69-9A22-C67508DBF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335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BEF3EA-068D-4AB6-B1F8-99F509411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71450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rPr>
              <a:t>Trace 可观测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CE8276-F89C-4758-AAF9-FEC8FDA3A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47900"/>
            <a:ext cx="28765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125" b="0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rPr>
              <a:t>trace_spans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AC92DC-D6FD-4C12-A2FC-A00F8BAB5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333375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635802-4D9F-4549-8D46-9DAC46E0A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3333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A93B"/>
          </a:solidFill>
          <a:ln xmlns:a="http://schemas.openxmlformats.org/drawingml/2006/main" w="9525">
            <a:solidFill>
              <a:srgbClr val="F2A93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F906E2-76BB-4032-9F1F-5B2E51BB8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52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93B"/>
          </a:solidFill>
          <a:ln xmlns:a="http://schemas.openxmlformats.org/drawingml/2006/main" w="0">
            <a:solidFill>
              <a:srgbClr val="F2A93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33CFEF-5BB5-4205-AB56-794761CD4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528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41699F-9CD4-48CA-8F68-C594AFD17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73380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rPr>
              <a:t>Workflow 审计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E0A8C5-A804-4F8D-9696-3BF3F20D5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28765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125" b="0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rPr>
              <a:t>workflow_runs / nodes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125" b="0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rPr>
              <a:t>tool_calls / policy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125" b="0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rPr>
              <a:t>verification_runs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48D1DA-3200-4C09-A817-12BE7EFC6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24250"/>
            <a:ext cx="333375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BCECAC-1483-42ED-9432-FC6385946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24250"/>
            <a:ext cx="3333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B57"/>
          </a:solidFill>
          <a:ln xmlns:a="http://schemas.openxmlformats.org/drawingml/2006/main" w="9525">
            <a:solidFill>
              <a:srgbClr val="173B5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B42868-015D-4BD7-83CE-6426D7D86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52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B57"/>
          </a:solidFill>
          <a:ln xmlns:a="http://schemas.openxmlformats.org/drawingml/2006/main" w="0">
            <a:solidFill>
              <a:srgbClr val="173B5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D8BA22E-C82D-478E-B4B2-6635630C0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528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7BA1A68-ED74-43B8-AF4F-88189A492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73380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rPr>
              <a:t>平台治理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794BD5A-CA09-45F8-A1B5-BA6A60D9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267200"/>
            <a:ext cx="28765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125" b="0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rPr>
              <a:t>platform_config_versions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125" b="0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rPr>
              <a:t>evaluation_runs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3D1D4C8-03F0-497E-91E2-593B593A4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24250"/>
            <a:ext cx="333375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384F0EC-1883-41BD-85B7-039CBBF30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24250"/>
            <a:ext cx="3333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5E5E"/>
          </a:solidFill>
          <a:ln xmlns:a="http://schemas.openxmlformats.org/drawingml/2006/main" w="9525">
            <a:solidFill>
              <a:srgbClr val="E55E5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05986F3-E893-49CA-A88B-DF18E51B3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752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5E5E"/>
          </a:solidFill>
          <a:ln xmlns:a="http://schemas.openxmlformats.org/drawingml/2006/main" w="0">
            <a:solidFill>
              <a:srgbClr val="E55E5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E2C6021-BC7F-4DB3-9B4C-99022D08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7528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AA728E4-2408-4112-B1F9-89AC2C968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73380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rPr>
              <a:t>数据治理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F69504D-CBCD-4DEA-80D1-C67283089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267200"/>
            <a:ext cx="28765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125" b="0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rPr>
              <a:t>connections / grants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125" b="0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rPr>
              <a:t>approvals / semantic_models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125" b="0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rPr>
              <a:t>audit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736C699-F458-44E1-817E-C00B667AE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820400" cy="428625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73B57"/>
          </a:solidFill>
          <a:ln xmlns:a="http://schemas.openxmlformats.org/drawingml/2006/main" w="9525">
            <a:solidFill>
              <a:srgbClr val="173B5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187A056-52DF-4457-B50A-C8AD777C9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769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Alembic 已升级至 20260731_0012；会话、来源、策略和工作流都具备可追溯落点。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F772B39-FB6A-481E-AEAE-C3C36828F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8CA2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CA2B1"/>
                </a:solidFill>
                <a:latin typeface="Microsoft YaHei"/>
                <a:ea typeface="Microsoft YaHei"/>
                <a:cs typeface="Microsoft YaHei"/>
              </a:rPr>
              <a:t>ERP 智能问答与采购分析平台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A4CF039-5034-40E5-8732-83C10316B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8652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8CA2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CA2B1"/>
                </a:solidFill>
                <a:latin typeface="Microsoft YaHei"/>
                <a:ea typeface="Microsoft YaHei"/>
                <a:cs typeface="Microsoft YaHei"/>
              </a:rPr>
              <a:t>13 / 16</a:t>
            </a:r>
          </a:p>
        </p:txBody>
      </p:sp>
    </p:spTree>
    <p:extLst>
      <p:ext uri="{BB962C8B-B14F-4D97-AF65-F5344CB8AC3E}">
        <p14:creationId xmlns:p14="http://schemas.microsoft.com/office/powerpoint/2010/main" val="34703777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A6004D1-A6D6-40FB-9623-5AA47604F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687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7F8"/>
                </a:solidFill>
                <a:latin typeface="Microsoft YaHei"/>
                <a:ea typeface="Microsoft YaHei"/>
                <a:cs typeface="Microsoft YaHei"/>
              </a:rPr>
              <a:t>13 · 功能流程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E9D8A5-25B3-494F-AE8C-64E6CF866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rPr>
              <a:t>五类典型问题：同一个 Agent，走不同实际业务路径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593E9A-2DE2-42D1-B66F-F87501525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B0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AB0BF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E2D001-C327-4889-9736-32778D333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E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76B1A3-2679-4C78-B6B9-80F82FD45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3048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73B57"/>
          </a:solidFill>
          <a:ln xmlns:a="http://schemas.openxmlformats.org/drawingml/2006/main" w="9525">
            <a:solidFill>
              <a:srgbClr val="173B5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8BBCFE-F865-4839-9551-A48B2693E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85900"/>
            <a:ext cx="289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用户表达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9F687E-D1E3-4104-9288-3B8EB1B21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466850"/>
            <a:ext cx="20383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73B57"/>
          </a:solidFill>
          <a:ln xmlns:a="http://schemas.openxmlformats.org/drawingml/2006/main" w="9525">
            <a:solidFill>
              <a:srgbClr val="173B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099349-DBC5-4670-8F65-D19F6DA48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1485900"/>
            <a:ext cx="1885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语义判断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309521-B7FB-414D-893B-4C7994434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466850"/>
            <a:ext cx="20383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73B57"/>
          </a:solidFill>
          <a:ln xmlns:a="http://schemas.openxmlformats.org/drawingml/2006/main" w="9525">
            <a:solidFill>
              <a:srgbClr val="173B5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575E74-C8CF-4E77-A6DA-161C2D9B0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85900"/>
            <a:ext cx="1885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执行路径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FE0922-8E5C-4DA3-9C3D-3C89B77A1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466850"/>
            <a:ext cx="3333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73B57"/>
          </a:solidFill>
          <a:ln xmlns:a="http://schemas.openxmlformats.org/drawingml/2006/main" w="9525">
            <a:solidFill>
              <a:srgbClr val="173B5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B8792E-7ACC-4F49-BE00-637A25599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485900"/>
            <a:ext cx="3181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用户结果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1334C7-8A85-480E-85FD-6F52495C1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3048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A35A50-C38B-486F-869F-C0363607F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000250"/>
            <a:ext cx="2038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790600-1844-4B5C-9B16-5FFF1532F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00250"/>
            <a:ext cx="2038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FDE2AE-0D7A-41F8-A9FD-1A4A0B159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00250"/>
            <a:ext cx="3333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7B6AA8-B3E2-4959-9F48-188B5DC6E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66675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A93B"/>
          </a:solidFill>
          <a:ln xmlns:a="http://schemas.openxmlformats.org/drawingml/2006/main" w="9525">
            <a:solidFill>
              <a:srgbClr val="F2A9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850885-76E0-43A4-BB65-6EED947C8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rPr>
              <a:t>订单现在什么状态？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0FB5AC-D199-4BE7-937B-6EF88742E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171700"/>
            <a:ext cx="1714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A93B">
              <a:alpha val="9412"/>
            </a:srgbClr>
          </a:solidFill>
          <a:ln xmlns:a="http://schemas.openxmlformats.org/drawingml/2006/main" w="9525">
            <a:solidFill>
              <a:srgbClr val="F2A93B">
                <a:alpha val="33333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246DD6-9376-4FE0-8558-3E1126E0B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17170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2A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2A93B"/>
                </a:solidFill>
                <a:latin typeface="Microsoft YaHei"/>
                <a:ea typeface="Microsoft YaHei"/>
                <a:cs typeface="Microsoft YaHei"/>
              </a:rPr>
              <a:t>缺 order_number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1FAA01-6797-4245-92D9-3F5539D3A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76450"/>
            <a:ext cx="1733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rPr>
              <a:t>Clarify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349B2B-B86F-495F-9538-EB984137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7645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rPr>
              <a:t>追问订单编号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3476A2-F9E0-4B54-B3F7-4689E5C9B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3048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E22D39-C4B4-4BD3-899E-3098DADA0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781300"/>
            <a:ext cx="2038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0679E6-1A74-4DD9-BC9E-6D27A86A5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781300"/>
            <a:ext cx="2038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DC1407-267B-4BA2-B40E-C27D90B0E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81300"/>
            <a:ext cx="3333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EAA920-95F0-49E4-A566-B2900263E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66675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B673"/>
          </a:solidFill>
          <a:ln xmlns:a="http://schemas.openxmlformats.org/drawingml/2006/main" w="9525">
            <a:solidFill>
              <a:srgbClr val="2BB67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741B00-D48A-4E4E-8396-B880FF92F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rPr>
              <a:t>哪些采购订单还没有入库？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8DCC42-5999-441C-9870-CB48AB961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952750"/>
            <a:ext cx="1714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B673">
              <a:alpha val="9412"/>
            </a:srgbClr>
          </a:solidFill>
          <a:ln xmlns:a="http://schemas.openxmlformats.org/drawingml/2006/main" w="9525">
            <a:solidFill>
              <a:srgbClr val="2BB673">
                <a:alpha val="33333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67E6CC-6538-43F6-B777-918E86EBA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95275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2BB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BB673"/>
                </a:solidFill>
                <a:latin typeface="Microsoft YaHei"/>
                <a:ea typeface="Microsoft YaHei"/>
                <a:cs typeface="Microsoft YaHei"/>
              </a:rPr>
              <a:t>业务查询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C0DCB22-8C37-4B58-8938-3115616E7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57500"/>
            <a:ext cx="1733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rPr>
              <a:t>orders.list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4FE23BA-2B95-4218-AA64-F4C5119A4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5750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rPr>
              <a:t>订单表 + 汇总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21FE65E-C387-447D-B8A0-09087D196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3048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3B2ED4D-8C41-4A5B-9BB4-B88FEF623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562350"/>
            <a:ext cx="2038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919C29D-9954-4563-BE69-6E1231277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62350"/>
            <a:ext cx="2038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84D8580-C52C-4B19-943A-07E9543B6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62350"/>
            <a:ext cx="3333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1704E61-A95D-4104-9C53-C5A5E4E56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66675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B4D8"/>
          </a:solidFill>
          <a:ln xmlns:a="http://schemas.openxmlformats.org/drawingml/2006/main" w="9525">
            <a:solidFill>
              <a:srgbClr val="08B4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5C3F1A7-9E7C-420C-AF5B-C34E82AD0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rPr>
              <a:t>采购订单审核后如何收料？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29013D3-139C-44DB-990D-C34D2FE99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733800"/>
            <a:ext cx="1714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B4D8">
              <a:alpha val="9412"/>
            </a:srgbClr>
          </a:solidFill>
          <a:ln xmlns:a="http://schemas.openxmlformats.org/drawingml/2006/main" w="9525">
            <a:solidFill>
              <a:srgbClr val="08B4D8">
                <a:alpha val="33333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92F78A3-D06C-496E-B23D-C197F4AD7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73380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08B4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8B4D8"/>
                </a:solidFill>
                <a:latin typeface="Microsoft YaHei"/>
                <a:ea typeface="Microsoft YaHei"/>
                <a:cs typeface="Microsoft YaHei"/>
              </a:rPr>
              <a:t>知识查询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673EF47-B89A-4158-990C-FB87F673F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38550"/>
            <a:ext cx="1733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rPr>
              <a:t>knowledge.search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81CAC67-544F-4BCD-A6F2-C28784C9C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63855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rPr>
              <a:t>答案 + 折叠来源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19184C1-E4C0-4674-922F-245BC3505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3048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745C7E8-8BC7-4E67-9B4D-7C3D86C47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343400"/>
            <a:ext cx="2038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BB04A0A-0D64-4E46-BB04-4BCA4EA90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343400"/>
            <a:ext cx="2038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2A88A2B-1FD3-4DCB-A342-18DE3BEE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43400"/>
            <a:ext cx="3333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CCB9409-F83A-480A-B2B3-7EE8D9DEA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66675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7F8"/>
          </a:solidFill>
          <a:ln xmlns:a="http://schemas.openxmlformats.org/drawingml/2006/main" w="9525">
            <a:solidFill>
              <a:srgbClr val="1687F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AA88803-BCEB-4C03-A4A8-B4D7232C3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rPr>
              <a:t>结合未入库订单和制度分析风险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00D0224-C6FC-4496-9C6E-E908AEFA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514850"/>
            <a:ext cx="1714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7F8">
              <a:alpha val="9412"/>
            </a:srgbClr>
          </a:solidFill>
          <a:ln xmlns:a="http://schemas.openxmlformats.org/drawingml/2006/main" w="9525">
            <a:solidFill>
              <a:srgbClr val="1687F8">
                <a:alpha val="33333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AB04175-C86C-48FE-97EE-AAE6ACC7B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51485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1687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687F8"/>
                </a:solidFill>
                <a:latin typeface="Microsoft YaHei"/>
                <a:ea typeface="Microsoft YaHei"/>
                <a:cs typeface="Microsoft YaHei"/>
              </a:rPr>
              <a:t>复合问答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1A5E60D-990B-4954-8A42-D3ED99149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419600"/>
            <a:ext cx="1733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rPr>
              <a:t>数据 Tool + 知识 Tool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A2352A1-69D6-40C5-9A99-9924CE341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41960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rPr>
              <a:t>风险分层 + 建议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290EB4A-6AB4-45D4-96B2-A94BC050E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3048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EB22E10-D614-44B8-A734-A08DCD479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124450"/>
            <a:ext cx="2038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9DC9FFC-D23B-44C6-B444-35EF56322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124450"/>
            <a:ext cx="2038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0CD776B-6E79-43F3-8459-90C195A41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124450"/>
            <a:ext cx="3333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36DD835-DE5B-4472-8C82-E6A95FE68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66675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5E5E"/>
          </a:solidFill>
          <a:ln xmlns:a="http://schemas.openxmlformats.org/drawingml/2006/main" w="9525">
            <a:solidFill>
              <a:srgbClr val="E55E5E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8209772-FE6C-4B1B-943D-ECF28BA2D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00650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rPr>
              <a:t>删除 PO202607001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B2BE4DF-190B-4F8B-BB75-37FD0282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295900"/>
            <a:ext cx="1714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5E5E">
              <a:alpha val="9412"/>
            </a:srgbClr>
          </a:solidFill>
          <a:ln xmlns:a="http://schemas.openxmlformats.org/drawingml/2006/main" w="9525">
            <a:solidFill>
              <a:srgbClr val="E55E5E">
                <a:alpha val="33333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F9450A2-FB6D-4810-90CC-CBCE55F2F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29590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E55E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55E5E"/>
                </a:solidFill>
                <a:latin typeface="Microsoft YaHei"/>
                <a:ea typeface="Microsoft YaHei"/>
                <a:cs typeface="Microsoft YaHei"/>
              </a:rPr>
              <a:t>高风险写操作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4C41A46-DEA1-49EE-B0A7-7947ED3ED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200650"/>
            <a:ext cx="1733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rPr>
              <a:t>request_guard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A3B923D-F439-4962-972E-8EB9611CC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20065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rPr>
              <a:t>拒绝 + 合规替代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60FBF82-D351-43A9-A54E-D52DA7DA5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8CA2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CA2B1"/>
                </a:solidFill>
                <a:latin typeface="Microsoft YaHei"/>
                <a:ea typeface="Microsoft YaHei"/>
                <a:cs typeface="Microsoft YaHei"/>
              </a:rPr>
              <a:t>ERP 智能问答与采购分析平台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097A234-53A5-4921-AC04-25347959E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8652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8CA2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CA2B1"/>
                </a:solidFill>
                <a:latin typeface="Microsoft YaHei"/>
                <a:ea typeface="Microsoft YaHei"/>
                <a:cs typeface="Microsoft YaHei"/>
              </a:rPr>
              <a:t>14 / 16</a:t>
            </a:r>
          </a:p>
        </p:txBody>
      </p:sp>
    </p:spTree>
    <p:extLst>
      <p:ext uri="{BB962C8B-B14F-4D97-AF65-F5344CB8AC3E}">
        <p14:creationId xmlns:p14="http://schemas.microsoft.com/office/powerpoint/2010/main" val="88352348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C1AE60C-4D5E-4BC9-A693-F9F0DAA6C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687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7F8"/>
                </a:solidFill>
                <a:latin typeface="Microsoft YaHei"/>
                <a:ea typeface="Microsoft YaHei"/>
                <a:cs typeface="Microsoft YaHei"/>
              </a:rPr>
              <a:t>14 · 验证与性能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0A633C-3EC3-453C-8C68-1023E9631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rPr>
              <a:t>质量证据：全量回归通过，关键路径完成本地验证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2CD5E4-7A1E-4A31-BB2A-95944736F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B0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AB0BF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813677-230A-4C46-AA4C-BFDCE7D06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E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F154AC-5549-4006-A638-7D92C7A1B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2381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91E39B-564E-4B4F-8DF6-235F64FC3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2381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7F8"/>
          </a:solidFill>
          <a:ln xmlns:a="http://schemas.openxmlformats.org/drawingml/2006/main" w="9525">
            <a:solidFill>
              <a:srgbClr val="1687F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E389E1-CB75-4F1B-A302-D498483AA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rPr>
              <a:t>后端全量测试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104D01-B244-4994-A172-47084AE90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38325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rPr>
              <a:t>234 passed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B88008-B1FE-417E-9758-6CF53FDD1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1687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87F8"/>
                </a:solidFill>
                <a:latin typeface="Microsoft YaHei"/>
                <a:ea typeface="Microsoft YaHei"/>
                <a:cs typeface="Microsoft YaHei"/>
              </a:rPr>
              <a:t>语义路由 / 会话 / 权限 / Tool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AE8F25-9CF3-4180-8E95-3D979A9B3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466850"/>
            <a:ext cx="2381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3062A7-239D-4E6A-92CD-B5060B1C0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466850"/>
            <a:ext cx="2381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B673"/>
          </a:solidFill>
          <a:ln xmlns:a="http://schemas.openxmlformats.org/drawingml/2006/main" w="9525">
            <a:solidFill>
              <a:srgbClr val="2BB67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F482B0-3D3D-41E7-B3C1-B56B218F0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6192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rPr>
              <a:t>采购服务测试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AC213F-BB4B-40D5-8F91-BFB7F9614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838325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rPr>
              <a:t>45 passed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BC709E-1F42-4CEC-B049-93F99C5EB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238375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2BB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BB673"/>
                </a:solidFill>
                <a:latin typeface="Microsoft YaHei"/>
                <a:ea typeface="Microsoft YaHei"/>
                <a:cs typeface="Microsoft YaHei"/>
              </a:rPr>
              <a:t>Connector / SQL / 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C585C5-97EF-475F-94A9-7D83B2AA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466850"/>
            <a:ext cx="2381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927313-5318-4BD2-AB67-7A62F6D5C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466850"/>
            <a:ext cx="2381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B4D8"/>
          </a:solidFill>
          <a:ln xmlns:a="http://schemas.openxmlformats.org/drawingml/2006/main" w="9525">
            <a:solidFill>
              <a:srgbClr val="08B4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314ADE-9444-4684-99F0-230432429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6192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rPr>
              <a:t>前端生产构建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BE5AC6-0DD6-42DB-B82D-BCFC5347D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838325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rPr>
              <a:t>PASS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D1D310-2558-479F-B867-E5442FF34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238375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08B4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8B4D8"/>
                </a:solidFill>
                <a:latin typeface="Microsoft YaHei"/>
                <a:ea typeface="Microsoft YaHei"/>
                <a:cs typeface="Microsoft YaHei"/>
              </a:rPr>
              <a:t>vue-tsc + Vite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DE25D2-F49D-4562-939B-BBB4234AE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466850"/>
            <a:ext cx="32194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DEDF63-43A2-43CA-9954-4D59776BE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466850"/>
            <a:ext cx="32194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A93B"/>
          </a:solidFill>
          <a:ln xmlns:a="http://schemas.openxmlformats.org/drawingml/2006/main" w="9525">
            <a:solidFill>
              <a:srgbClr val="F2A93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9DFE17-9ED6-478A-A2F9-AECD29B52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19250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47B8E"/>
                </a:solidFill>
                <a:latin typeface="Microsoft YaHei"/>
                <a:ea typeface="Microsoft YaHei"/>
                <a:cs typeface="Microsoft YaHei"/>
              </a:rPr>
              <a:t>关键业务路由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F400B0-C910-49A2-9DBB-D1F3955CA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838325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rPr>
              <a:t>6 / 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DDA802-AB55-42A5-943D-F5CFC28B9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38375"/>
            <a:ext cx="2876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F2A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2A93B"/>
                </a:solidFill>
                <a:latin typeface="Microsoft YaHei"/>
                <a:ea typeface="Microsoft YaHei"/>
                <a:cs typeface="Microsoft YaHei"/>
              </a:rPr>
              <a:t>知识 / 业务 / 复合 / 澄清 / 拒绝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4091C6-47DA-41F5-9425-B86A61BD3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7086600" cy="26860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E6D18F-CFBD-4272-BF4E-28110426E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908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rPr>
              <a:t>本地链路实测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31A68B-B7A6-4F41-844E-7B85F594E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0"/>
            <a:ext cx="1276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rPr>
              <a:t>订单状态澄清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98B647-361B-4364-A856-BCB93DFBA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495675"/>
            <a:ext cx="659606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A93B"/>
          </a:solidFill>
          <a:ln xmlns:a="http://schemas.openxmlformats.org/drawingml/2006/main" w="9525">
            <a:solidFill>
              <a:srgbClr val="F2A93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061CFD-BDF8-4AA8-B3EA-9B3F3829F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290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F2A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2A93B"/>
                </a:solidFill>
                <a:latin typeface="Microsoft YaHei"/>
                <a:ea typeface="Microsoft YaHei"/>
                <a:cs typeface="Microsoft YaHei"/>
              </a:rPr>
              <a:t>2.77s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BD7D1A-A53D-4120-A70D-529D2B62C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0"/>
            <a:ext cx="1276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rPr>
              <a:t>未入库订单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230E62-7485-47BF-AE27-104724163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876675"/>
            <a:ext cx="864394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B673"/>
          </a:solidFill>
          <a:ln xmlns:a="http://schemas.openxmlformats.org/drawingml/2006/main" w="9525">
            <a:solidFill>
              <a:srgbClr val="2BB67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C66E97D-6102-4CAD-9050-381458EFC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8100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2BB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BB673"/>
                </a:solidFill>
                <a:latin typeface="Microsoft YaHei"/>
                <a:ea typeface="Microsoft YaHei"/>
                <a:cs typeface="Microsoft YaHei"/>
              </a:rPr>
              <a:t>3.63s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9081AEF-1B18-40CD-AAF0-0E7AFB86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91000"/>
            <a:ext cx="1276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rPr>
              <a:t>经营分析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5582766-5FF8-4EEF-846F-F4EF33B08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257675"/>
            <a:ext cx="711994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B4D8"/>
          </a:solidFill>
          <a:ln xmlns:a="http://schemas.openxmlformats.org/drawingml/2006/main" w="9525">
            <a:solidFill>
              <a:srgbClr val="08B4D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40C7216-4991-402D-9100-758736AE9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910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08B4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8B4D8"/>
                </a:solidFill>
                <a:latin typeface="Microsoft YaHei"/>
                <a:ea typeface="Microsoft YaHei"/>
                <a:cs typeface="Microsoft YaHei"/>
              </a:rPr>
              <a:t>2.99s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4F88E06-5457-4DE0-BB3B-FE34F0CA1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72000"/>
            <a:ext cx="1276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rPr>
              <a:t>知识问答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550160F-5CDC-49E1-ACA3-96611B73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638675"/>
            <a:ext cx="3062288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7F8"/>
          </a:solidFill>
          <a:ln xmlns:a="http://schemas.openxmlformats.org/drawingml/2006/main" w="9525">
            <a:solidFill>
              <a:srgbClr val="1687F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B82F1B9-6504-4EB8-815B-9B1008886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5720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1687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7F8"/>
                </a:solidFill>
                <a:latin typeface="Microsoft YaHei"/>
                <a:ea typeface="Microsoft YaHei"/>
                <a:cs typeface="Microsoft YaHei"/>
              </a:rPr>
              <a:t>12.86s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97293DB-7B76-4458-B77D-DACE690AC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53000"/>
            <a:ext cx="1276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rPr>
              <a:t>复合问答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68D952B-8C21-4F87-8D40-8A94B01A0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019675"/>
            <a:ext cx="4036219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B57"/>
          </a:solidFill>
          <a:ln xmlns:a="http://schemas.openxmlformats.org/drawingml/2006/main" w="9525">
            <a:solidFill>
              <a:srgbClr val="173B5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5ABA804-A8FD-4052-A44E-333298D42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9530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B57"/>
                </a:solidFill>
                <a:latin typeface="Microsoft YaHei"/>
                <a:ea typeface="Microsoft YaHei"/>
                <a:cs typeface="Microsoft YaHei"/>
              </a:rPr>
              <a:t>16.95s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18B00A4-0B4C-4D7E-A4A3-B9709CB2E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838450"/>
            <a:ext cx="3467100" cy="26860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5E5"/>
          </a:solidFill>
          <a:ln xmlns:a="http://schemas.openxmlformats.org/drawingml/2006/main" w="9525">
            <a:solidFill>
              <a:srgbClr val="F5D49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A9077CE-A945-4725-88B2-2C98B7B7B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099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2A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2A93B"/>
                </a:solidFill>
                <a:latin typeface="Microsoft YaHei"/>
                <a:ea typeface="Microsoft YaHei"/>
                <a:cs typeface="Microsoft YaHei"/>
              </a:rPr>
              <a:t>已知边界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635D2F4-264D-4226-9D89-50376850C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67100"/>
            <a:ext cx="2952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rPr>
              <a:t>• 本页耗时来自本地 HTTP 链路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rPr>
              <a:t>• 外部模型与知识源存在网络延迟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rPr>
              <a:t>• ECharts Canvas chunk 约 555 KB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8435C"/>
                </a:solidFill>
                <a:latin typeface="Microsoft YaHei"/>
                <a:ea typeface="Microsoft YaHei"/>
                <a:cs typeface="Microsoft YaHei"/>
              </a:rPr>
              <a:t>• 生产库需配置真实 Connector 与指标口径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E8C4A50-EEC5-4C26-94EA-2CF445D68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73B57"/>
          </a:solidFill>
          <a:ln xmlns:a="http://schemas.openxmlformats.org/drawingml/2006/main" w="9525">
            <a:solidFill>
              <a:srgbClr val="173B5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571124B-A3A8-4555-A820-A56F8724A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816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优化原则：减少无收益调用，不删除权限、证据、超时和审计控制。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9003F41-F57D-437F-A6C6-A1A9C9B47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8CA2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CA2B1"/>
                </a:solidFill>
                <a:latin typeface="Microsoft YaHei"/>
                <a:ea typeface="Microsoft YaHei"/>
                <a:cs typeface="Microsoft YaHei"/>
              </a:rPr>
              <a:t>ERP 智能问答与采购分析平台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497EEC1-C9EF-4821-9D66-746DE79DB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8652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8CA2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CA2B1"/>
                </a:solidFill>
                <a:latin typeface="Microsoft YaHei"/>
                <a:ea typeface="Microsoft YaHei"/>
                <a:cs typeface="Microsoft YaHei"/>
              </a:rPr>
              <a:t>15 / 16</a:t>
            </a:r>
          </a:p>
        </p:txBody>
      </p:sp>
    </p:spTree>
    <p:extLst>
      <p:ext uri="{BB962C8B-B14F-4D97-AF65-F5344CB8AC3E}">
        <p14:creationId xmlns:p14="http://schemas.microsoft.com/office/powerpoint/2010/main" val="179508264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F2D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2E3B2C6-AEB5-4B45-BCDB-2369D344F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524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3F5C"/>
          </a:solidFill>
          <a:ln xmlns:a="http://schemas.openxmlformats.org/drawingml/2006/main" w="9525">
            <a:solidFill>
              <a:srgbClr val="2B638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0ED055-B27F-4D39-BB64-16C30C492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8EDD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8EDDF0"/>
                </a:solidFill>
                <a:latin typeface="Microsoft YaHei"/>
                <a:ea typeface="Microsoft YaHei"/>
                <a:cs typeface="Microsoft YaHei"/>
              </a:rPr>
              <a:t>答辩演示顺序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1863E4-93A8-44DE-975C-12FCB3EEB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00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从“问得懂”到“查得到、答得准、管得住”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7833FF-88A7-4683-8AF2-8C6DC12DC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33337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63B54"/>
          </a:solidFill>
          <a:ln xmlns:a="http://schemas.openxmlformats.org/drawingml/2006/main" w="9525">
            <a:solidFill>
              <a:srgbClr val="315F7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426FFF-0D16-49EC-84C6-63C5CD863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93B"/>
          </a:solidFill>
          <a:ln xmlns:a="http://schemas.openxmlformats.org/drawingml/2006/main" w="0">
            <a:solidFill>
              <a:srgbClr val="F2A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083F1E-829A-4818-BD44-D7C44C50A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ECF2C4-FF41-483F-8D6A-CB449CC62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209800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缺订单号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B46B0A-5973-4011-ABB9-1C1389C4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59080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A9C5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9C5D4"/>
                </a:solidFill>
                <a:latin typeface="Microsoft YaHei"/>
                <a:ea typeface="Microsoft YaHei"/>
                <a:cs typeface="Microsoft YaHei"/>
              </a:rPr>
              <a:t>主动追问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9B6867-9C88-48E4-AB01-6804B93F9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38350"/>
            <a:ext cx="33337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63B54"/>
          </a:solidFill>
          <a:ln xmlns:a="http://schemas.openxmlformats.org/drawingml/2006/main" w="9525">
            <a:solidFill>
              <a:srgbClr val="315F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7709ED-7799-48F7-82F2-704A7A66E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6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B673"/>
          </a:solidFill>
          <a:ln xmlns:a="http://schemas.openxmlformats.org/drawingml/2006/main" w="0">
            <a:solidFill>
              <a:srgbClr val="2BB67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5A937B-7907-417A-A531-E36F321B1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669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7FDC32-0386-4124-A1BD-8276C81B3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209800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未入库订单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A1132D-45F2-42A2-81E2-DC5EE78E3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59080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A9C5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9C5D4"/>
                </a:solidFill>
                <a:latin typeface="Microsoft YaHei"/>
                <a:ea typeface="Microsoft YaHei"/>
                <a:cs typeface="Microsoft YaHei"/>
              </a:rPr>
              <a:t>业务表格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3BDBE5-546C-46DD-91A6-8E5AF725B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38350"/>
            <a:ext cx="33337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63B54"/>
          </a:solidFill>
          <a:ln xmlns:a="http://schemas.openxmlformats.org/drawingml/2006/main" w="9525">
            <a:solidFill>
              <a:srgbClr val="315F7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AC441A-0D80-4A0C-8C5C-997DC6090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6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4D8"/>
          </a:solidFill>
          <a:ln xmlns:a="http://schemas.openxmlformats.org/drawingml/2006/main" w="0">
            <a:solidFill>
              <a:srgbClr val="08B4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7702A3-826F-4B10-B1FB-6090CB0FC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669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9F745F-4F41-45C7-B42B-899051310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209800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经营概览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55341D-7969-4BDF-898B-E8718908D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59080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A9C5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9C5D4"/>
                </a:solidFill>
                <a:latin typeface="Microsoft YaHei"/>
                <a:ea typeface="Microsoft YaHei"/>
                <a:cs typeface="Microsoft YaHei"/>
              </a:rPr>
              <a:t>指标 + 图表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6BA8AD-0A46-4BDC-9941-6CAC77E94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33337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63B54"/>
          </a:solidFill>
          <a:ln xmlns:a="http://schemas.openxmlformats.org/drawingml/2006/main" w="9525">
            <a:solidFill>
              <a:srgbClr val="315F7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0F5F1F-6186-4411-9749-EA12F0996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57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7F8"/>
          </a:solidFill>
          <a:ln xmlns:a="http://schemas.openxmlformats.org/drawingml/2006/main" w="0">
            <a:solidFill>
              <a:srgbClr val="1687F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6EF2D4-7A84-4D75-AD88-96A0DDD05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576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286DFC-3098-4EA8-BD71-C0CA5E32A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600450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制度问答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2459D5-B860-4BBF-B4B1-BB4807256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8145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A9C5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9C5D4"/>
                </a:solidFill>
                <a:latin typeface="Microsoft YaHei"/>
                <a:ea typeface="Microsoft YaHei"/>
                <a:cs typeface="Microsoft YaHei"/>
              </a:rPr>
              <a:t>折叠来源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9050A7-C184-4051-8C03-32A1DD508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429000"/>
            <a:ext cx="33337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63B54"/>
          </a:solidFill>
          <a:ln xmlns:a="http://schemas.openxmlformats.org/drawingml/2006/main" w="9525">
            <a:solidFill>
              <a:srgbClr val="315F7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04AE5C-15D6-4E99-BF4F-BBFAF5F73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57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B57"/>
          </a:solidFill>
          <a:ln xmlns:a="http://schemas.openxmlformats.org/drawingml/2006/main" w="0">
            <a:solidFill>
              <a:srgbClr val="173B5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D4E402-AD9F-4538-82D1-4821CF137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576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CD6654-8CC5-4412-86FD-886BC4C45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600450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复合分析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0E352D-8DA7-41F5-BA99-BB584F77D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98145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A9C5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9C5D4"/>
                </a:solidFill>
                <a:latin typeface="Microsoft YaHei"/>
                <a:ea typeface="Microsoft YaHei"/>
                <a:cs typeface="Microsoft YaHei"/>
              </a:rPr>
              <a:t>双 Tool 联合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2EB49A-8A88-4712-8514-F3DBA799D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429000"/>
            <a:ext cx="33337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63B54"/>
          </a:solidFill>
          <a:ln xmlns:a="http://schemas.openxmlformats.org/drawingml/2006/main" w="9525">
            <a:solidFill>
              <a:srgbClr val="315F7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A7C96C-8AE6-4D85-9DD4-BEB7A727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57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5E5E"/>
          </a:solidFill>
          <a:ln xmlns:a="http://schemas.openxmlformats.org/drawingml/2006/main" w="0">
            <a:solidFill>
              <a:srgbClr val="E55E5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ADA20C-4772-462D-8FB8-37917DF4D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576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B561556-AB8C-4C57-BCD6-8E8AB9795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600450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删除订单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A3680E5-65AB-44F5-BABB-9D93943F3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98145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A9C5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9C5D4"/>
                </a:solidFill>
                <a:latin typeface="Microsoft YaHei"/>
                <a:ea typeface="Microsoft YaHei"/>
                <a:cs typeface="Microsoft YaHei"/>
              </a:rPr>
              <a:t>安全拒绝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0D410C3-585D-488D-A584-6EF94787B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108204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2364E"/>
          </a:solidFill>
          <a:ln xmlns:a="http://schemas.openxmlformats.org/drawingml/2006/main" w="9525">
            <a:solidFill>
              <a:srgbClr val="315F7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9DFDDBF-89A8-4F16-8770-59AAC5710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57800"/>
            <a:ext cx="1314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8EDD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8EDDF0"/>
                </a:solidFill>
                <a:latin typeface="Microsoft YaHei"/>
                <a:ea typeface="Microsoft YaHei"/>
                <a:cs typeface="Microsoft YaHei"/>
              </a:rPr>
              <a:t>核心结论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8CD8D58-44F6-49FB-9092-9DE9AABA5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257800"/>
            <a:ext cx="8972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语义路由提供理解力 · Tool 提供真实事实 · Harness 提供企业级可信边界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6EA1FB7-C444-47A7-A937-433D4D086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341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A7D9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A7D9ED"/>
                </a:solidFill>
                <a:latin typeface="Microsoft YaHei"/>
                <a:ea typeface="Microsoft YaHei"/>
                <a:cs typeface="Microsoft YaHei"/>
              </a:rPr>
              <a:t>谢谢 · Q &amp; 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2929CC1-8CE3-4922-87D6-5B7126461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88A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8A8BC"/>
                </a:solidFill>
                <a:latin typeface="Microsoft YaHei"/>
                <a:ea typeface="Microsoft YaHei"/>
                <a:cs typeface="Microsoft YaHei"/>
              </a:rPr>
              <a:t>ERP_Platform · 可演示、可接入、可治理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A470A35-4E3F-45FF-8594-49ADD0032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8652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88A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8A8BC"/>
                </a:solidFill>
                <a:latin typeface="Microsoft YaHei"/>
                <a:ea typeface="Microsoft YaHei"/>
                <a:cs typeface="Microsoft YaHei"/>
              </a:rPr>
              <a:t>16 / 16</a:t>
            </a:r>
          </a:p>
        </p:txBody>
      </p:sp>
    </p:spTree>
    <p:extLst>
      <p:ext uri="{BB962C8B-B14F-4D97-AF65-F5344CB8AC3E}">
        <p14:creationId xmlns:p14="http://schemas.microsoft.com/office/powerpoint/2010/main" val="9006078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2026-08-04T06:46:28.1400000Z</dcterms:created>
  <dcterms:modified xsi:type="dcterms:W3CDTF">2026-08-04T06:46:28.1400000Z</dcterms:modified>
</coreProperties>
</file>